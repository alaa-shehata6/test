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frame the class: the five behaviors look similar under stress but are driven by different needs. Ask students which type they have met before, then promise one playbook per type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Perfectionists calm down when quality becomes measurable. Emphasize the milestone trick: small locked approvals prevent the endless-revision loop students fear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two chat lines out loud in class. Students remember tone faster than rules: neutral words plus a genuine question turn a critic into a collaborator.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ladder rung by rung: calm, listen, bound, solve. Stress that boundaries are professional, not rude — naming unacceptable behavior early protects both sides.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along the chevrons as you talk: each stage has exactly one job. The clarify question is the hinge — it converts venting into a ranked list you can actually work through.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reframe: arrogance is a status need, so give status for good input while letting evidence decide. Confidence plus deference keeps the project — and the relationship — intact.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running the six steps once more as a call-and-response. Takeaway: composure is the product — clients remember how you handled pressure longer than what you delivered. IMAGE CREDITS: Icons — Lucide (lucide.dev, github.com/lucide-icons/lucide), ISC License: crosshair, shield, flame, message-circle-warning, crown, compass, circle-check, recolored and rasterized to PNG. All other visuals are native editable PowerPoint shapes.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640080" y="502920"/>
            <a:ext cx="10881360" cy="320040"/>
          </a:xfrm>
          <a:prstGeom prst="rect">
            <a:avLst/>
          </a:prstGeom>
          <a:noFill/>
        </p:spPr>
        <p:txBody>
          <a:bodyPr wrap="square"/>
          <a:lstStyle/>
          <a:p>
            <a:pPr algn="l">
              <a:lnSpc>
                <a:spcPct val="100000"/>
              </a:lnSpc>
              <a:spcBef>
                <a:spcPts val="0"/>
              </a:spcBef>
              <a:spcAft>
                <a:spcPts val="200"/>
              </a:spcAft>
              <a:defRPr sz="1200" b="1" i="0">
                <a:solidFill>
                  <a:srgbClr val="0B5B55"/>
                </a:solidFill>
                <a:latin typeface="Calibri"/>
              </a:defRPr>
            </a:pPr>
            <a:r>
              <a:t>FREELANCER FIELD GUIDE  ·  COLLEGE CLASS + PRO TRAINING</a:t>
            </a:r>
          </a:p>
        </p:txBody>
      </p:sp>
      <p:sp>
        <p:nvSpPr>
          <p:cNvPr id="3" name="TextBox 2"/>
          <p:cNvSpPr txBox="1"/>
          <p:nvPr/>
        </p:nvSpPr>
        <p:spPr>
          <a:xfrm>
            <a:off x="640080" y="960120"/>
            <a:ext cx="10881360" cy="1371600"/>
          </a:xfrm>
          <a:prstGeom prst="rect">
            <a:avLst/>
          </a:prstGeom>
          <a:noFill/>
        </p:spPr>
        <p:txBody>
          <a:bodyPr wrap="square"/>
          <a:lstStyle/>
          <a:p>
            <a:pPr algn="l">
              <a:lnSpc>
                <a:spcPct val="100000"/>
              </a:lnSpc>
              <a:spcBef>
                <a:spcPts val="0"/>
              </a:spcBef>
              <a:spcAft>
                <a:spcPts val="200"/>
              </a:spcAft>
              <a:defRPr sz="4400" b="1" i="0">
                <a:solidFill>
                  <a:srgbClr val="1A2332"/>
                </a:solidFill>
                <a:latin typeface="Cambria"/>
              </a:defRPr>
            </a:pPr>
            <a:r>
              <a:t>Different Types of Difficult Clients' Behaviors</a:t>
            </a:r>
          </a:p>
        </p:txBody>
      </p:sp>
      <p:sp>
        <p:nvSpPr>
          <p:cNvPr id="4" name="TextBox 3"/>
          <p:cNvSpPr txBox="1"/>
          <p:nvPr/>
        </p:nvSpPr>
        <p:spPr>
          <a:xfrm>
            <a:off x="640080" y="2395728"/>
            <a:ext cx="10881360" cy="548640"/>
          </a:xfrm>
          <a:prstGeom prst="rect">
            <a:avLst/>
          </a:prstGeom>
          <a:noFill/>
        </p:spPr>
        <p:txBody>
          <a:bodyPr wrap="square"/>
          <a:lstStyle/>
          <a:p>
            <a:pPr algn="l">
              <a:lnSpc>
                <a:spcPct val="100000"/>
              </a:lnSpc>
              <a:spcBef>
                <a:spcPts val="0"/>
              </a:spcBef>
              <a:spcAft>
                <a:spcPts val="200"/>
              </a:spcAft>
              <a:defRPr sz="2000" b="0" i="1">
                <a:solidFill>
                  <a:srgbClr val="3D475C"/>
                </a:solidFill>
                <a:latin typeface="Calibri"/>
              </a:defRPr>
            </a:pPr>
            <a:r>
              <a:t>A Practical Guide for Freelancers</a:t>
            </a:r>
          </a:p>
        </p:txBody>
      </p:sp>
      <p:sp>
        <p:nvSpPr>
          <p:cNvPr id="5" name="Rounded Rectangle 4"/>
          <p:cNvSpPr/>
          <p:nvPr/>
        </p:nvSpPr>
        <p:spPr>
          <a:xfrm>
            <a:off x="640080" y="3154680"/>
            <a:ext cx="3291840" cy="502920"/>
          </a:xfrm>
          <a:prstGeom prst="roundRect">
            <a:avLst>
              <a:gd name="adj" fmla="val 18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18688"/>
            <a:ext cx="2926080" cy="411480"/>
          </a:xfrm>
          <a:prstGeom prst="rect">
            <a:avLst/>
          </a:prstGeom>
          <a:noFill/>
        </p:spPr>
        <p:txBody>
          <a:bodyPr wrap="square"/>
          <a:lstStyle/>
          <a:p>
            <a:pPr algn="l">
              <a:lnSpc>
                <a:spcPct val="100000"/>
              </a:lnSpc>
              <a:spcBef>
                <a:spcPts val="0"/>
              </a:spcBef>
              <a:spcAft>
                <a:spcPts val="200"/>
              </a:spcAft>
              <a:defRPr sz="1200" b="0" i="0">
                <a:solidFill>
                  <a:srgbClr val="3D475C"/>
                </a:solidFill>
                <a:latin typeface="Calibri"/>
              </a:defRPr>
            </a:pPr>
            <a:r>
              <a:t>[ Your Name ]</a:t>
            </a:r>
          </a:p>
        </p:txBody>
      </p:sp>
      <p:sp>
        <p:nvSpPr>
          <p:cNvPr id="7" name="Rounded Rectangle 6"/>
          <p:cNvSpPr/>
          <p:nvPr/>
        </p:nvSpPr>
        <p:spPr>
          <a:xfrm>
            <a:off x="4114800" y="3154680"/>
            <a:ext cx="3291840" cy="502920"/>
          </a:xfrm>
          <a:prstGeom prst="roundRect">
            <a:avLst>
              <a:gd name="adj" fmla="val 18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3218688"/>
            <a:ext cx="2926080" cy="411480"/>
          </a:xfrm>
          <a:prstGeom prst="rect">
            <a:avLst/>
          </a:prstGeom>
          <a:noFill/>
        </p:spPr>
        <p:txBody>
          <a:bodyPr wrap="square"/>
          <a:lstStyle/>
          <a:p>
            <a:pPr algn="l">
              <a:lnSpc>
                <a:spcPct val="100000"/>
              </a:lnSpc>
              <a:spcBef>
                <a:spcPts val="0"/>
              </a:spcBef>
              <a:spcAft>
                <a:spcPts val="200"/>
              </a:spcAft>
              <a:defRPr sz="1200" b="0" i="0">
                <a:solidFill>
                  <a:srgbClr val="3D475C"/>
                </a:solidFill>
                <a:latin typeface="Calibri"/>
              </a:defRPr>
            </a:pPr>
            <a:r>
              <a:t>[ Course / Section ]</a:t>
            </a:r>
          </a:p>
        </p:txBody>
      </p:sp>
      <p:sp>
        <p:nvSpPr>
          <p:cNvPr id="9" name="Rounded Rectangle 8"/>
          <p:cNvSpPr/>
          <p:nvPr/>
        </p:nvSpPr>
        <p:spPr>
          <a:xfrm>
            <a:off x="566928" y="4069080"/>
            <a:ext cx="1316736" cy="86868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pic>
        <p:nvPicPr>
          <p:cNvPr id="10" name="Picture 9" descr="image.png"/>
          <p:cNvPicPr>
            <a:picLocks noChangeAspect="1"/>
          </p:cNvPicPr>
          <p:nvPr/>
        </p:nvPicPr>
        <p:blipFill>
          <a:blip r:embed="rId2"/>
          <a:stretch>
            <a:fillRect/>
          </a:stretch>
        </p:blipFill>
        <p:spPr>
          <a:xfrm>
            <a:off x="786384" y="4224528"/>
            <a:ext cx="548640" cy="548640"/>
          </a:xfrm>
          <a:prstGeom prst="rect">
            <a:avLst/>
          </a:prstGeom>
        </p:spPr>
      </p:pic>
      <p:sp>
        <p:nvSpPr>
          <p:cNvPr id="11" name="TextBox 10"/>
          <p:cNvSpPr txBox="1"/>
          <p:nvPr/>
        </p:nvSpPr>
        <p:spPr>
          <a:xfrm>
            <a:off x="1371600" y="4133087"/>
            <a:ext cx="1316736" cy="749808"/>
          </a:xfrm>
          <a:prstGeom prst="rect">
            <a:avLst/>
          </a:prstGeom>
          <a:noFill/>
        </p:spPr>
        <p:txBody>
          <a:bodyPr wrap="square" lIns="18288" rIns="18288"/>
          <a:lstStyle/>
          <a:p>
            <a:pPr algn="l">
              <a:lnSpc>
                <a:spcPct val="100000"/>
              </a:lnSpc>
              <a:spcBef>
                <a:spcPts val="0"/>
              </a:spcBef>
              <a:spcAft>
                <a:spcPts val="0"/>
              </a:spcAft>
              <a:defRPr sz="1000" b="1" i="0">
                <a:solidFill>
                  <a:srgbClr val="92400E"/>
                </a:solidFill>
                <a:latin typeface="Calibri"/>
              </a:defRPr>
            </a:pPr>
            <a:r>
              <a:t>01</a:t>
            </a:r>
          </a:p>
          <a:p>
            <a:pPr algn="l">
              <a:lnSpc>
                <a:spcPct val="100000"/>
              </a:lnSpc>
              <a:spcBef>
                <a:spcPts val="0"/>
              </a:spcBef>
              <a:spcAft>
                <a:spcPts val="0"/>
              </a:spcAft>
              <a:defRPr sz="1000" b="1" i="0">
                <a:solidFill>
                  <a:srgbClr val="92400E"/>
                </a:solidFill>
                <a:latin typeface="Calibri"/>
              </a:defRPr>
            </a:pPr>
            <a:r>
              <a:t>PERFECTIONISTIC</a:t>
            </a:r>
          </a:p>
        </p:txBody>
      </p:sp>
      <p:sp>
        <p:nvSpPr>
          <p:cNvPr id="12" name="Rounded Rectangle 11"/>
          <p:cNvSpPr/>
          <p:nvPr/>
        </p:nvSpPr>
        <p:spPr>
          <a:xfrm>
            <a:off x="2779776" y="4069080"/>
            <a:ext cx="1316736" cy="868680"/>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pic>
        <p:nvPicPr>
          <p:cNvPr id="13" name="Picture 12" descr="image.png"/>
          <p:cNvPicPr>
            <a:picLocks noChangeAspect="1"/>
          </p:cNvPicPr>
          <p:nvPr/>
        </p:nvPicPr>
        <p:blipFill>
          <a:blip r:embed="rId3"/>
          <a:stretch>
            <a:fillRect/>
          </a:stretch>
        </p:blipFill>
        <p:spPr>
          <a:xfrm>
            <a:off x="2999232" y="4224528"/>
            <a:ext cx="548640" cy="548640"/>
          </a:xfrm>
          <a:prstGeom prst="rect">
            <a:avLst/>
          </a:prstGeom>
        </p:spPr>
      </p:pic>
      <p:sp>
        <p:nvSpPr>
          <p:cNvPr id="14" name="TextBox 13"/>
          <p:cNvSpPr txBox="1"/>
          <p:nvPr/>
        </p:nvSpPr>
        <p:spPr>
          <a:xfrm>
            <a:off x="3584448" y="4133087"/>
            <a:ext cx="1316736" cy="749808"/>
          </a:xfrm>
          <a:prstGeom prst="rect">
            <a:avLst/>
          </a:prstGeom>
          <a:noFill/>
        </p:spPr>
        <p:txBody>
          <a:bodyPr wrap="square" lIns="18288" rIns="18288"/>
          <a:lstStyle/>
          <a:p>
            <a:pPr algn="l">
              <a:lnSpc>
                <a:spcPct val="100000"/>
              </a:lnSpc>
              <a:spcBef>
                <a:spcPts val="0"/>
              </a:spcBef>
              <a:spcAft>
                <a:spcPts val="0"/>
              </a:spcAft>
              <a:defRPr sz="1000" b="1" i="0">
                <a:solidFill>
                  <a:srgbClr val="1E40AF"/>
                </a:solidFill>
                <a:latin typeface="Calibri"/>
              </a:defRPr>
            </a:pPr>
            <a:r>
              <a:t>02</a:t>
            </a:r>
          </a:p>
          <a:p>
            <a:pPr algn="l">
              <a:lnSpc>
                <a:spcPct val="100000"/>
              </a:lnSpc>
              <a:spcBef>
                <a:spcPts val="0"/>
              </a:spcBef>
              <a:spcAft>
                <a:spcPts val="0"/>
              </a:spcAft>
              <a:defRPr sz="1000" b="1" i="0">
                <a:solidFill>
                  <a:srgbClr val="1E40AF"/>
                </a:solidFill>
                <a:latin typeface="Calibri"/>
              </a:defRPr>
            </a:pPr>
            <a:r>
              <a:t>DEFENSIVE</a:t>
            </a:r>
          </a:p>
        </p:txBody>
      </p:sp>
      <p:sp>
        <p:nvSpPr>
          <p:cNvPr id="15" name="Rounded Rectangle 14"/>
          <p:cNvSpPr/>
          <p:nvPr/>
        </p:nvSpPr>
        <p:spPr>
          <a:xfrm>
            <a:off x="4992624" y="4069080"/>
            <a:ext cx="1316736" cy="86868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pic>
        <p:nvPicPr>
          <p:cNvPr id="16" name="Picture 15" descr="image.png"/>
          <p:cNvPicPr>
            <a:picLocks noChangeAspect="1"/>
          </p:cNvPicPr>
          <p:nvPr/>
        </p:nvPicPr>
        <p:blipFill>
          <a:blip r:embed="rId4"/>
          <a:stretch>
            <a:fillRect/>
          </a:stretch>
        </p:blipFill>
        <p:spPr>
          <a:xfrm>
            <a:off x="5212080" y="4224528"/>
            <a:ext cx="548640" cy="548640"/>
          </a:xfrm>
          <a:prstGeom prst="rect">
            <a:avLst/>
          </a:prstGeom>
        </p:spPr>
      </p:pic>
      <p:sp>
        <p:nvSpPr>
          <p:cNvPr id="17" name="TextBox 16"/>
          <p:cNvSpPr txBox="1"/>
          <p:nvPr/>
        </p:nvSpPr>
        <p:spPr>
          <a:xfrm>
            <a:off x="5797296" y="4133087"/>
            <a:ext cx="1316736" cy="749808"/>
          </a:xfrm>
          <a:prstGeom prst="rect">
            <a:avLst/>
          </a:prstGeom>
          <a:noFill/>
        </p:spPr>
        <p:txBody>
          <a:bodyPr wrap="square" lIns="18288" rIns="18288"/>
          <a:lstStyle/>
          <a:p>
            <a:pPr algn="l">
              <a:lnSpc>
                <a:spcPct val="100000"/>
              </a:lnSpc>
              <a:spcBef>
                <a:spcPts val="0"/>
              </a:spcBef>
              <a:spcAft>
                <a:spcPts val="0"/>
              </a:spcAft>
              <a:defRPr sz="1000" b="1" i="0">
                <a:solidFill>
                  <a:srgbClr val="B91C1C"/>
                </a:solidFill>
                <a:latin typeface="Calibri"/>
              </a:defRPr>
            </a:pPr>
            <a:r>
              <a:t>03</a:t>
            </a:r>
          </a:p>
          <a:p>
            <a:pPr algn="l">
              <a:lnSpc>
                <a:spcPct val="100000"/>
              </a:lnSpc>
              <a:spcBef>
                <a:spcPts val="0"/>
              </a:spcBef>
              <a:spcAft>
                <a:spcPts val="0"/>
              </a:spcAft>
              <a:defRPr sz="1000" b="1" i="0">
                <a:solidFill>
                  <a:srgbClr val="B91C1C"/>
                </a:solidFill>
                <a:latin typeface="Calibri"/>
              </a:defRPr>
            </a:pPr>
            <a:r>
              <a:t>AGGRESSIVE</a:t>
            </a:r>
          </a:p>
        </p:txBody>
      </p:sp>
      <p:sp>
        <p:nvSpPr>
          <p:cNvPr id="18" name="Rounded Rectangle 17"/>
          <p:cNvSpPr/>
          <p:nvPr/>
        </p:nvSpPr>
        <p:spPr>
          <a:xfrm>
            <a:off x="7205472" y="4069080"/>
            <a:ext cx="1316736" cy="86868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pic>
        <p:nvPicPr>
          <p:cNvPr id="19" name="Picture 18" descr="image.png"/>
          <p:cNvPicPr>
            <a:picLocks noChangeAspect="1"/>
          </p:cNvPicPr>
          <p:nvPr/>
        </p:nvPicPr>
        <p:blipFill>
          <a:blip r:embed="rId5"/>
          <a:stretch>
            <a:fillRect/>
          </a:stretch>
        </p:blipFill>
        <p:spPr>
          <a:xfrm>
            <a:off x="7424927" y="4224528"/>
            <a:ext cx="548640" cy="548640"/>
          </a:xfrm>
          <a:prstGeom prst="rect">
            <a:avLst/>
          </a:prstGeom>
        </p:spPr>
      </p:pic>
      <p:sp>
        <p:nvSpPr>
          <p:cNvPr id="20" name="TextBox 19"/>
          <p:cNvSpPr txBox="1"/>
          <p:nvPr/>
        </p:nvSpPr>
        <p:spPr>
          <a:xfrm>
            <a:off x="8010144" y="4133087"/>
            <a:ext cx="1316736" cy="749808"/>
          </a:xfrm>
          <a:prstGeom prst="rect">
            <a:avLst/>
          </a:prstGeom>
          <a:noFill/>
        </p:spPr>
        <p:txBody>
          <a:bodyPr wrap="square" lIns="18288" rIns="18288"/>
          <a:lstStyle/>
          <a:p>
            <a:pPr algn="l">
              <a:lnSpc>
                <a:spcPct val="100000"/>
              </a:lnSpc>
              <a:spcBef>
                <a:spcPts val="0"/>
              </a:spcBef>
              <a:spcAft>
                <a:spcPts val="0"/>
              </a:spcAft>
              <a:defRPr sz="1000" b="1" i="0">
                <a:solidFill>
                  <a:srgbClr val="6D28D9"/>
                </a:solidFill>
                <a:latin typeface="Calibri"/>
              </a:defRPr>
            </a:pPr>
            <a:r>
              <a:t>04</a:t>
            </a:r>
          </a:p>
          <a:p>
            <a:pPr algn="l">
              <a:lnSpc>
                <a:spcPct val="100000"/>
              </a:lnSpc>
              <a:spcBef>
                <a:spcPts val="0"/>
              </a:spcBef>
              <a:spcAft>
                <a:spcPts val="0"/>
              </a:spcAft>
              <a:defRPr sz="1000" b="1" i="0">
                <a:solidFill>
                  <a:srgbClr val="6D28D9"/>
                </a:solidFill>
                <a:latin typeface="Calibri"/>
              </a:defRPr>
            </a:pPr>
            <a:r>
              <a:t>COMPLAINING</a:t>
            </a:r>
          </a:p>
        </p:txBody>
      </p:sp>
      <p:sp>
        <p:nvSpPr>
          <p:cNvPr id="21" name="Rounded Rectangle 20"/>
          <p:cNvSpPr/>
          <p:nvPr/>
        </p:nvSpPr>
        <p:spPr>
          <a:xfrm>
            <a:off x="9418320" y="4069080"/>
            <a:ext cx="1316736" cy="868680"/>
          </a:xfrm>
          <a:prstGeom prst="roundRect">
            <a:avLst>
              <a:gd name="adj" fmla="val 12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pic>
        <p:nvPicPr>
          <p:cNvPr id="22" name="Picture 21" descr="image.png"/>
          <p:cNvPicPr>
            <a:picLocks noChangeAspect="1"/>
          </p:cNvPicPr>
          <p:nvPr/>
        </p:nvPicPr>
        <p:blipFill>
          <a:blip r:embed="rId6"/>
          <a:stretch>
            <a:fillRect/>
          </a:stretch>
        </p:blipFill>
        <p:spPr>
          <a:xfrm>
            <a:off x="9637776" y="4224528"/>
            <a:ext cx="548640" cy="548640"/>
          </a:xfrm>
          <a:prstGeom prst="rect">
            <a:avLst/>
          </a:prstGeom>
        </p:spPr>
      </p:pic>
      <p:sp>
        <p:nvSpPr>
          <p:cNvPr id="23" name="TextBox 22"/>
          <p:cNvSpPr txBox="1"/>
          <p:nvPr/>
        </p:nvSpPr>
        <p:spPr>
          <a:xfrm>
            <a:off x="10222992" y="4133087"/>
            <a:ext cx="1316736" cy="749808"/>
          </a:xfrm>
          <a:prstGeom prst="rect">
            <a:avLst/>
          </a:prstGeom>
          <a:noFill/>
        </p:spPr>
        <p:txBody>
          <a:bodyPr wrap="square" lIns="18288" rIns="18288"/>
          <a:lstStyle/>
          <a:p>
            <a:pPr algn="l">
              <a:lnSpc>
                <a:spcPct val="100000"/>
              </a:lnSpc>
              <a:spcBef>
                <a:spcPts val="0"/>
              </a:spcBef>
              <a:spcAft>
                <a:spcPts val="0"/>
              </a:spcAft>
              <a:defRPr sz="1000" b="1" i="0">
                <a:solidFill>
                  <a:srgbClr val="0E7490"/>
                </a:solidFill>
                <a:latin typeface="Calibri"/>
              </a:defRPr>
            </a:pPr>
            <a:r>
              <a:t>05</a:t>
            </a:r>
          </a:p>
          <a:p>
            <a:pPr algn="l">
              <a:lnSpc>
                <a:spcPct val="100000"/>
              </a:lnSpc>
              <a:spcBef>
                <a:spcPts val="0"/>
              </a:spcBef>
              <a:spcAft>
                <a:spcPts val="0"/>
              </a:spcAft>
              <a:defRPr sz="1000" b="1" i="0">
                <a:solidFill>
                  <a:srgbClr val="0E7490"/>
                </a:solidFill>
                <a:latin typeface="Calibri"/>
              </a:defRPr>
            </a:pPr>
            <a:r>
              <a:t>ARROGANT</a:t>
            </a:r>
          </a:p>
        </p:txBody>
      </p:sp>
      <p:sp>
        <p:nvSpPr>
          <p:cNvPr id="24" name="TextBox 23"/>
          <p:cNvSpPr txBox="1"/>
          <p:nvPr/>
        </p:nvSpPr>
        <p:spPr>
          <a:xfrm>
            <a:off x="640080" y="5138928"/>
            <a:ext cx="10881360" cy="365760"/>
          </a:xfrm>
          <a:prstGeom prst="rect">
            <a:avLst/>
          </a:prstGeom>
          <a:noFill/>
        </p:spPr>
        <p:txBody>
          <a:bodyPr wrap="square"/>
          <a:lstStyle/>
          <a:p>
            <a:pPr algn="ctr">
              <a:lnSpc>
                <a:spcPct val="100000"/>
              </a:lnSpc>
              <a:spcBef>
                <a:spcPts val="0"/>
              </a:spcBef>
              <a:spcAft>
                <a:spcPts val="200"/>
              </a:spcAft>
              <a:defRPr sz="1100" b="0" i="0">
                <a:solidFill>
                  <a:srgbClr val="3D475C"/>
                </a:solidFill>
                <a:latin typeface="Calibri"/>
              </a:defRPr>
            </a:pPr>
            <a:r>
              <a:t>Five behaviors · five playbooks · one calm freelancer</a:t>
            </a:r>
          </a:p>
        </p:txBody>
      </p:sp>
      <p:sp>
        <p:nvSpPr>
          <p:cNvPr id="25" name="Rounded Rectangle 24"/>
          <p:cNvSpPr/>
          <p:nvPr/>
        </p:nvSpPr>
        <p:spPr>
          <a:xfrm>
            <a:off x="3721608" y="5623560"/>
            <a:ext cx="4754880" cy="62179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608" y="5669280"/>
            <a:ext cx="4754880" cy="530352"/>
          </a:xfrm>
          <a:prstGeom prst="rect">
            <a:avLst/>
          </a:prstGeom>
          <a:noFill/>
        </p:spPr>
        <p:txBody>
          <a:bodyPr wrap="square"/>
          <a:lstStyle/>
          <a:p>
            <a:pPr algn="ctr">
              <a:lnSpc>
                <a:spcPct val="100000"/>
              </a:lnSpc>
              <a:spcBef>
                <a:spcPts val="0"/>
              </a:spcBef>
              <a:spcAft>
                <a:spcPts val="200"/>
              </a:spcAft>
              <a:defRPr sz="1200" b="1" i="0">
                <a:solidFill>
                  <a:srgbClr val="FFFFFF"/>
                </a:solidFill>
                <a:latin typeface="Calibri"/>
              </a:defRPr>
            </a:pPr>
            <a:r>
              <a:t>Stay calm. Read the behavior. Match the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0B5B55"/>
                </a:solidFill>
                <a:latin typeface="Calibri"/>
              </a:defRPr>
            </a:pPr>
            <a:r>
              <a:t>OVERVIEW · FIVE TYPES, FIVE APPROACHES</a:t>
            </a:r>
          </a:p>
        </p:txBody>
      </p:sp>
      <p:sp>
        <p:nvSpPr>
          <p:cNvPr id="3" name="TextBox 2"/>
          <p:cNvSpPr txBox="1"/>
          <p:nvPr/>
        </p:nvSpPr>
        <p:spPr>
          <a:xfrm>
            <a:off x="548640" y="621792"/>
            <a:ext cx="109728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Same freelancer. Five different playbooks.</a:t>
            </a:r>
          </a:p>
        </p:txBody>
      </p:sp>
      <p:sp>
        <p:nvSpPr>
          <p:cNvPr id="4" name="TextBox 3"/>
          <p:cNvSpPr txBox="1"/>
          <p:nvPr/>
        </p:nvSpPr>
        <p:spPr>
          <a:xfrm>
            <a:off x="548640" y="1325880"/>
            <a:ext cx="10972800" cy="36576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Each behavior is driven by something different — so each needs a different communication approach.</a:t>
            </a:r>
          </a:p>
        </p:txBody>
      </p:sp>
      <p:sp>
        <p:nvSpPr>
          <p:cNvPr id="5" name="Rounded Rectangle 4"/>
          <p:cNvSpPr/>
          <p:nvPr/>
        </p:nvSpPr>
        <p:spPr>
          <a:xfrm>
            <a:off x="548640" y="2057400"/>
            <a:ext cx="11091672" cy="3246120"/>
          </a:xfrm>
          <a:prstGeom prst="roundRect">
            <a:avLst>
              <a:gd name="adj" fmla="val 4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05840" y="2788920"/>
            <a:ext cx="10149840" cy="41148"/>
          </a:xfrm>
          <a:prstGeom prst="rect">
            <a:avLst/>
          </a:prstGeom>
          <a:solidFill>
            <a:srgbClr val="DDD6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67712"/>
            <a:ext cx="2743200" cy="365760"/>
          </a:xfrm>
          <a:prstGeom prst="rect">
            <a:avLst/>
          </a:prstGeom>
          <a:noFill/>
        </p:spPr>
        <p:txBody>
          <a:bodyPr wrap="square" anchor="t"/>
          <a:lstStyle/>
          <a:p>
            <a:pPr algn="l">
              <a:lnSpc>
                <a:spcPct val="100000"/>
              </a:lnSpc>
              <a:spcBef>
                <a:spcPts val="0"/>
              </a:spcBef>
              <a:spcAft>
                <a:spcPts val="200"/>
              </a:spcAft>
              <a:defRPr sz="1000" b="1" i="0">
                <a:solidFill>
                  <a:srgbClr val="3D475C"/>
                </a:solidFill>
                <a:latin typeface="Calibri"/>
              </a:defRPr>
            </a:pPr>
            <a:r>
              <a:t>Worried about the WORK</a:t>
            </a:r>
          </a:p>
        </p:txBody>
      </p:sp>
      <p:sp>
        <p:nvSpPr>
          <p:cNvPr id="8" name="TextBox 7"/>
          <p:cNvSpPr txBox="1"/>
          <p:nvPr/>
        </p:nvSpPr>
        <p:spPr>
          <a:xfrm>
            <a:off x="8412480" y="2267712"/>
            <a:ext cx="2743200" cy="365760"/>
          </a:xfrm>
          <a:prstGeom prst="rect">
            <a:avLst/>
          </a:prstGeom>
          <a:noFill/>
        </p:spPr>
        <p:txBody>
          <a:bodyPr wrap="square" anchor="t"/>
          <a:lstStyle/>
          <a:p>
            <a:pPr algn="r">
              <a:lnSpc>
                <a:spcPct val="100000"/>
              </a:lnSpc>
              <a:spcBef>
                <a:spcPts val="0"/>
              </a:spcBef>
              <a:spcAft>
                <a:spcPts val="200"/>
              </a:spcAft>
              <a:defRPr sz="1000" b="1" i="0">
                <a:solidFill>
                  <a:srgbClr val="3D475C"/>
                </a:solidFill>
                <a:latin typeface="Calibri"/>
              </a:defRPr>
            </a:pPr>
            <a:r>
              <a:t>Sure about THEMSELVES</a:t>
            </a:r>
          </a:p>
        </p:txBody>
      </p:sp>
      <p:sp>
        <p:nvSpPr>
          <p:cNvPr id="9" name="Oval 8"/>
          <p:cNvSpPr/>
          <p:nvPr/>
        </p:nvSpPr>
        <p:spPr>
          <a:xfrm>
            <a:off x="1623060" y="2948940"/>
            <a:ext cx="960120" cy="96012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rosshair.png"/>
          <p:cNvPicPr>
            <a:picLocks noChangeAspect="1"/>
          </p:cNvPicPr>
          <p:nvPr/>
        </p:nvPicPr>
        <p:blipFill>
          <a:blip r:embed="rId2"/>
          <a:stretch>
            <a:fillRect/>
          </a:stretch>
        </p:blipFill>
        <p:spPr>
          <a:xfrm>
            <a:off x="1815084" y="3140964"/>
            <a:ext cx="576072" cy="576072"/>
          </a:xfrm>
          <a:prstGeom prst="rect">
            <a:avLst/>
          </a:prstGeom>
        </p:spPr>
      </p:pic>
      <p:sp>
        <p:nvSpPr>
          <p:cNvPr id="11" name="TextBox 10"/>
          <p:cNvSpPr txBox="1"/>
          <p:nvPr/>
        </p:nvSpPr>
        <p:spPr>
          <a:xfrm>
            <a:off x="1234440" y="4005072"/>
            <a:ext cx="1737360" cy="1143000"/>
          </a:xfrm>
          <a:prstGeom prst="rect">
            <a:avLst/>
          </a:prstGeom>
          <a:noFill/>
        </p:spPr>
        <p:txBody>
          <a:bodyPr wrap="square" anchor="t"/>
          <a:lstStyle/>
          <a:p>
            <a:pPr algn="ctr">
              <a:lnSpc>
                <a:spcPct val="100000"/>
              </a:lnSpc>
              <a:spcBef>
                <a:spcPts val="0"/>
              </a:spcBef>
              <a:spcAft>
                <a:spcPts val="200"/>
              </a:spcAft>
              <a:defRPr sz="1100" b="1" i="0">
                <a:solidFill>
                  <a:srgbClr val="92400E"/>
                </a:solidFill>
                <a:latin typeface="Calibri"/>
              </a:defRPr>
            </a:pPr>
            <a:r>
              <a:t>01  PERFECTIONISTIC</a:t>
            </a:r>
          </a:p>
          <a:p>
            <a:pPr algn="ctr">
              <a:lnSpc>
                <a:spcPct val="100000"/>
              </a:lnSpc>
              <a:spcBef>
                <a:spcPts val="0"/>
              </a:spcBef>
              <a:spcAft>
                <a:spcPts val="200"/>
              </a:spcAft>
              <a:defRPr sz="1100" b="0" i="0">
                <a:solidFill>
                  <a:srgbClr val="3D475C"/>
                </a:solidFill>
                <a:latin typeface="Calibri"/>
              </a:defRPr>
            </a:pPr>
            <a:r>
              <a:t>Driver: Standards</a:t>
            </a:r>
          </a:p>
          <a:p>
            <a:pPr algn="ctr">
              <a:lnSpc>
                <a:spcPct val="100000"/>
              </a:lnSpc>
              <a:spcBef>
                <a:spcPts val="0"/>
              </a:spcBef>
              <a:spcAft>
                <a:spcPts val="200"/>
              </a:spcAft>
              <a:defRPr sz="1200" b="0" i="1">
                <a:solidFill>
                  <a:srgbClr val="1A2332"/>
                </a:solidFill>
                <a:latin typeface="Calibri"/>
              </a:defRPr>
            </a:pPr>
            <a:r>
              <a:t>“Prove the quality”</a:t>
            </a:r>
          </a:p>
        </p:txBody>
      </p:sp>
      <p:sp>
        <p:nvSpPr>
          <p:cNvPr id="12" name="Oval 11"/>
          <p:cNvSpPr/>
          <p:nvPr/>
        </p:nvSpPr>
        <p:spPr>
          <a:xfrm>
            <a:off x="2039112" y="2715768"/>
            <a:ext cx="146304" cy="146304"/>
          </a:xfrm>
          <a:prstGeom prst="ellipse">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53028" y="2948940"/>
            <a:ext cx="960120" cy="96012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essage-circle-warning.png"/>
          <p:cNvPicPr>
            <a:picLocks noChangeAspect="1"/>
          </p:cNvPicPr>
          <p:nvPr/>
        </p:nvPicPr>
        <p:blipFill>
          <a:blip r:embed="rId3"/>
          <a:stretch>
            <a:fillRect/>
          </a:stretch>
        </p:blipFill>
        <p:spPr>
          <a:xfrm>
            <a:off x="3845052" y="3140964"/>
            <a:ext cx="576072" cy="576072"/>
          </a:xfrm>
          <a:prstGeom prst="rect">
            <a:avLst/>
          </a:prstGeom>
        </p:spPr>
      </p:pic>
      <p:sp>
        <p:nvSpPr>
          <p:cNvPr id="15" name="TextBox 14"/>
          <p:cNvSpPr txBox="1"/>
          <p:nvPr/>
        </p:nvSpPr>
        <p:spPr>
          <a:xfrm>
            <a:off x="3264408" y="4005072"/>
            <a:ext cx="1737360" cy="1143000"/>
          </a:xfrm>
          <a:prstGeom prst="rect">
            <a:avLst/>
          </a:prstGeom>
          <a:noFill/>
        </p:spPr>
        <p:txBody>
          <a:bodyPr wrap="square" anchor="t"/>
          <a:lstStyle/>
          <a:p>
            <a:pPr algn="ctr">
              <a:lnSpc>
                <a:spcPct val="100000"/>
              </a:lnSpc>
              <a:spcBef>
                <a:spcPts val="0"/>
              </a:spcBef>
              <a:spcAft>
                <a:spcPts val="200"/>
              </a:spcAft>
              <a:defRPr sz="1100" b="1" i="0">
                <a:solidFill>
                  <a:srgbClr val="6D28D9"/>
                </a:solidFill>
                <a:latin typeface="Calibri"/>
              </a:defRPr>
            </a:pPr>
            <a:r>
              <a:t>04  COMPLAINING</a:t>
            </a:r>
          </a:p>
          <a:p>
            <a:pPr algn="ctr">
              <a:lnSpc>
                <a:spcPct val="100000"/>
              </a:lnSpc>
              <a:spcBef>
                <a:spcPts val="0"/>
              </a:spcBef>
              <a:spcAft>
                <a:spcPts val="200"/>
              </a:spcAft>
              <a:defRPr sz="1100" b="0" i="0">
                <a:solidFill>
                  <a:srgbClr val="3D475C"/>
                </a:solidFill>
                <a:latin typeface="Calibri"/>
              </a:defRPr>
            </a:pPr>
            <a:r>
              <a:t>Driver: Dissatisfaction</a:t>
            </a:r>
          </a:p>
          <a:p>
            <a:pPr algn="ctr">
              <a:lnSpc>
                <a:spcPct val="100000"/>
              </a:lnSpc>
              <a:spcBef>
                <a:spcPts val="0"/>
              </a:spcBef>
              <a:spcAft>
                <a:spcPts val="200"/>
              </a:spcAft>
              <a:defRPr sz="1200" b="0" i="1">
                <a:solidFill>
                  <a:srgbClr val="1A2332"/>
                </a:solidFill>
                <a:latin typeface="Calibri"/>
              </a:defRPr>
            </a:pPr>
            <a:r>
              <a:t>“Nothing works”</a:t>
            </a:r>
          </a:p>
        </p:txBody>
      </p:sp>
      <p:sp>
        <p:nvSpPr>
          <p:cNvPr id="16" name="Oval 15"/>
          <p:cNvSpPr/>
          <p:nvPr/>
        </p:nvSpPr>
        <p:spPr>
          <a:xfrm>
            <a:off x="4069080" y="2715768"/>
            <a:ext cx="146304" cy="14630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682996" y="2948940"/>
            <a:ext cx="960120" cy="96012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hield.png"/>
          <p:cNvPicPr>
            <a:picLocks noChangeAspect="1"/>
          </p:cNvPicPr>
          <p:nvPr/>
        </p:nvPicPr>
        <p:blipFill>
          <a:blip r:embed="rId4"/>
          <a:stretch>
            <a:fillRect/>
          </a:stretch>
        </p:blipFill>
        <p:spPr>
          <a:xfrm>
            <a:off x="5875020" y="3140964"/>
            <a:ext cx="576072" cy="576072"/>
          </a:xfrm>
          <a:prstGeom prst="rect">
            <a:avLst/>
          </a:prstGeom>
        </p:spPr>
      </p:pic>
      <p:sp>
        <p:nvSpPr>
          <p:cNvPr id="19" name="TextBox 18"/>
          <p:cNvSpPr txBox="1"/>
          <p:nvPr/>
        </p:nvSpPr>
        <p:spPr>
          <a:xfrm>
            <a:off x="5294376" y="4005072"/>
            <a:ext cx="1737360" cy="1143000"/>
          </a:xfrm>
          <a:prstGeom prst="rect">
            <a:avLst/>
          </a:prstGeom>
          <a:noFill/>
        </p:spPr>
        <p:txBody>
          <a:bodyPr wrap="square" anchor="t"/>
          <a:lstStyle/>
          <a:p>
            <a:pPr algn="ctr">
              <a:lnSpc>
                <a:spcPct val="100000"/>
              </a:lnSpc>
              <a:spcBef>
                <a:spcPts val="0"/>
              </a:spcBef>
              <a:spcAft>
                <a:spcPts val="200"/>
              </a:spcAft>
              <a:defRPr sz="1100" b="1" i="0">
                <a:solidFill>
                  <a:srgbClr val="1E40AF"/>
                </a:solidFill>
                <a:latin typeface="Calibri"/>
              </a:defRPr>
            </a:pPr>
            <a:r>
              <a:t>02  DEFENSIVE</a:t>
            </a:r>
          </a:p>
          <a:p>
            <a:pPr algn="ctr">
              <a:lnSpc>
                <a:spcPct val="100000"/>
              </a:lnSpc>
              <a:spcBef>
                <a:spcPts val="0"/>
              </a:spcBef>
              <a:spcAft>
                <a:spcPts val="200"/>
              </a:spcAft>
              <a:defRPr sz="1100" b="0" i="0">
                <a:solidFill>
                  <a:srgbClr val="3D475C"/>
                </a:solidFill>
                <a:latin typeface="Calibri"/>
              </a:defRPr>
            </a:pPr>
            <a:r>
              <a:t>Driver: Safety</a:t>
            </a:r>
          </a:p>
          <a:p>
            <a:pPr algn="ctr">
              <a:lnSpc>
                <a:spcPct val="100000"/>
              </a:lnSpc>
              <a:spcBef>
                <a:spcPts val="0"/>
              </a:spcBef>
              <a:spcAft>
                <a:spcPts val="200"/>
              </a:spcAft>
              <a:defRPr sz="1200" b="0" i="1">
                <a:solidFill>
                  <a:srgbClr val="1A2332"/>
                </a:solidFill>
                <a:latin typeface="Calibri"/>
              </a:defRPr>
            </a:pPr>
            <a:r>
              <a:t>“Don’t blame me”</a:t>
            </a:r>
          </a:p>
        </p:txBody>
      </p:sp>
      <p:sp>
        <p:nvSpPr>
          <p:cNvPr id="20" name="Oval 19"/>
          <p:cNvSpPr/>
          <p:nvPr/>
        </p:nvSpPr>
        <p:spPr>
          <a:xfrm>
            <a:off x="6099048" y="2715768"/>
            <a:ext cx="146304" cy="146304"/>
          </a:xfrm>
          <a:prstGeom prst="ellipse">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12964" y="2948940"/>
            <a:ext cx="960120" cy="96012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lame.png"/>
          <p:cNvPicPr>
            <a:picLocks noChangeAspect="1"/>
          </p:cNvPicPr>
          <p:nvPr/>
        </p:nvPicPr>
        <p:blipFill>
          <a:blip r:embed="rId5"/>
          <a:stretch>
            <a:fillRect/>
          </a:stretch>
        </p:blipFill>
        <p:spPr>
          <a:xfrm>
            <a:off x="7904988" y="3140964"/>
            <a:ext cx="576072" cy="576072"/>
          </a:xfrm>
          <a:prstGeom prst="rect">
            <a:avLst/>
          </a:prstGeom>
        </p:spPr>
      </p:pic>
      <p:sp>
        <p:nvSpPr>
          <p:cNvPr id="23" name="TextBox 22"/>
          <p:cNvSpPr txBox="1"/>
          <p:nvPr/>
        </p:nvSpPr>
        <p:spPr>
          <a:xfrm>
            <a:off x="7324344" y="4005072"/>
            <a:ext cx="1737360" cy="1143000"/>
          </a:xfrm>
          <a:prstGeom prst="rect">
            <a:avLst/>
          </a:prstGeom>
          <a:noFill/>
        </p:spPr>
        <p:txBody>
          <a:bodyPr wrap="square" anchor="t"/>
          <a:lstStyle/>
          <a:p>
            <a:pPr algn="ctr">
              <a:lnSpc>
                <a:spcPct val="100000"/>
              </a:lnSpc>
              <a:spcBef>
                <a:spcPts val="0"/>
              </a:spcBef>
              <a:spcAft>
                <a:spcPts val="200"/>
              </a:spcAft>
              <a:defRPr sz="1100" b="1" i="0">
                <a:solidFill>
                  <a:srgbClr val="B91C1C"/>
                </a:solidFill>
                <a:latin typeface="Calibri"/>
              </a:defRPr>
            </a:pPr>
            <a:r>
              <a:t>03  AGGRESSIVE</a:t>
            </a:r>
          </a:p>
          <a:p>
            <a:pPr algn="ctr">
              <a:lnSpc>
                <a:spcPct val="100000"/>
              </a:lnSpc>
              <a:spcBef>
                <a:spcPts val="0"/>
              </a:spcBef>
              <a:spcAft>
                <a:spcPts val="200"/>
              </a:spcAft>
              <a:defRPr sz="1100" b="0" i="0">
                <a:solidFill>
                  <a:srgbClr val="3D475C"/>
                </a:solidFill>
                <a:latin typeface="Calibri"/>
              </a:defRPr>
            </a:pPr>
            <a:r>
              <a:t>Driver: Control</a:t>
            </a:r>
          </a:p>
          <a:p>
            <a:pPr algn="ctr">
              <a:lnSpc>
                <a:spcPct val="100000"/>
              </a:lnSpc>
              <a:spcBef>
                <a:spcPts val="0"/>
              </a:spcBef>
              <a:spcAft>
                <a:spcPts val="200"/>
              </a:spcAft>
              <a:defRPr sz="1200" b="0" i="1">
                <a:solidFill>
                  <a:srgbClr val="1A2332"/>
                </a:solidFill>
                <a:latin typeface="Calibri"/>
              </a:defRPr>
            </a:pPr>
            <a:r>
              <a:t>“Obey, now”</a:t>
            </a:r>
          </a:p>
        </p:txBody>
      </p:sp>
      <p:sp>
        <p:nvSpPr>
          <p:cNvPr id="24" name="Oval 23"/>
          <p:cNvSpPr/>
          <p:nvPr/>
        </p:nvSpPr>
        <p:spPr>
          <a:xfrm>
            <a:off x="8129016" y="2715768"/>
            <a:ext cx="146304" cy="146304"/>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742932" y="2948940"/>
            <a:ext cx="960120" cy="960120"/>
          </a:xfrm>
          <a:prstGeom prst="ellipse">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rown.png"/>
          <p:cNvPicPr>
            <a:picLocks noChangeAspect="1"/>
          </p:cNvPicPr>
          <p:nvPr/>
        </p:nvPicPr>
        <p:blipFill>
          <a:blip r:embed="rId6"/>
          <a:stretch>
            <a:fillRect/>
          </a:stretch>
        </p:blipFill>
        <p:spPr>
          <a:xfrm>
            <a:off x="9934956" y="3140964"/>
            <a:ext cx="576072" cy="576072"/>
          </a:xfrm>
          <a:prstGeom prst="rect">
            <a:avLst/>
          </a:prstGeom>
        </p:spPr>
      </p:pic>
      <p:sp>
        <p:nvSpPr>
          <p:cNvPr id="27" name="TextBox 26"/>
          <p:cNvSpPr txBox="1"/>
          <p:nvPr/>
        </p:nvSpPr>
        <p:spPr>
          <a:xfrm>
            <a:off x="9354312" y="4005072"/>
            <a:ext cx="1737360" cy="1143000"/>
          </a:xfrm>
          <a:prstGeom prst="rect">
            <a:avLst/>
          </a:prstGeom>
          <a:noFill/>
        </p:spPr>
        <p:txBody>
          <a:bodyPr wrap="square" anchor="t"/>
          <a:lstStyle/>
          <a:p>
            <a:pPr algn="ctr">
              <a:lnSpc>
                <a:spcPct val="100000"/>
              </a:lnSpc>
              <a:spcBef>
                <a:spcPts val="0"/>
              </a:spcBef>
              <a:spcAft>
                <a:spcPts val="200"/>
              </a:spcAft>
              <a:defRPr sz="1100" b="1" i="0">
                <a:solidFill>
                  <a:srgbClr val="0E7490"/>
                </a:solidFill>
                <a:latin typeface="Calibri"/>
              </a:defRPr>
            </a:pPr>
            <a:r>
              <a:t>05  ARROGANT</a:t>
            </a:r>
          </a:p>
          <a:p>
            <a:pPr algn="ctr">
              <a:lnSpc>
                <a:spcPct val="100000"/>
              </a:lnSpc>
              <a:spcBef>
                <a:spcPts val="0"/>
              </a:spcBef>
              <a:spcAft>
                <a:spcPts val="200"/>
              </a:spcAft>
              <a:defRPr sz="1100" b="0" i="0">
                <a:solidFill>
                  <a:srgbClr val="3D475C"/>
                </a:solidFill>
                <a:latin typeface="Calibri"/>
              </a:defRPr>
            </a:pPr>
            <a:r>
              <a:t>Driver: Status</a:t>
            </a:r>
          </a:p>
          <a:p>
            <a:pPr algn="ctr">
              <a:lnSpc>
                <a:spcPct val="100000"/>
              </a:lnSpc>
              <a:spcBef>
                <a:spcPts val="0"/>
              </a:spcBef>
              <a:spcAft>
                <a:spcPts val="200"/>
              </a:spcAft>
              <a:defRPr sz="1200" b="0" i="1">
                <a:solidFill>
                  <a:srgbClr val="1A2332"/>
                </a:solidFill>
                <a:latin typeface="Calibri"/>
              </a:defRPr>
            </a:pPr>
            <a:r>
              <a:t>“I know best”</a:t>
            </a:r>
          </a:p>
        </p:txBody>
      </p:sp>
      <p:sp>
        <p:nvSpPr>
          <p:cNvPr id="28" name="Oval 27"/>
          <p:cNvSpPr/>
          <p:nvPr/>
        </p:nvSpPr>
        <p:spPr>
          <a:xfrm>
            <a:off x="10158984" y="2715768"/>
            <a:ext cx="146304" cy="146304"/>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864608"/>
            <a:ext cx="11091672" cy="365760"/>
          </a:xfrm>
          <a:prstGeom prst="rect">
            <a:avLst/>
          </a:prstGeom>
          <a:noFill/>
        </p:spPr>
        <p:txBody>
          <a:bodyPr wrap="square" anchor="t"/>
          <a:lstStyle/>
          <a:p>
            <a:pPr algn="ctr">
              <a:lnSpc>
                <a:spcPct val="100000"/>
              </a:lnSpc>
              <a:spcBef>
                <a:spcPts val="0"/>
              </a:spcBef>
              <a:spcAft>
                <a:spcPts val="200"/>
              </a:spcAft>
              <a:defRPr sz="1100" b="1" i="0">
                <a:solidFill>
                  <a:srgbClr val="3D475C"/>
                </a:solidFill>
                <a:latin typeface="Calibri"/>
              </a:defRPr>
            </a:pPr>
            <a:r>
              <a:t>Your move for each:</a:t>
            </a:r>
          </a:p>
        </p:txBody>
      </p:sp>
      <p:sp>
        <p:nvSpPr>
          <p:cNvPr id="30" name="Rounded Rectangle 29"/>
          <p:cNvSpPr/>
          <p:nvPr/>
        </p:nvSpPr>
        <p:spPr>
          <a:xfrm>
            <a:off x="1463040" y="5230368"/>
            <a:ext cx="1600200" cy="457200"/>
          </a:xfrm>
          <a:prstGeom prst="roundRect">
            <a:avLst>
              <a:gd name="adj" fmla="val 5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3040" y="5266944"/>
            <a:ext cx="1600200" cy="384048"/>
          </a:xfrm>
          <a:prstGeom prst="rect">
            <a:avLst/>
          </a:prstGeom>
          <a:noFill/>
        </p:spPr>
        <p:txBody>
          <a:bodyPr wrap="square" anchor="t"/>
          <a:lstStyle/>
          <a:p>
            <a:pPr algn="ctr">
              <a:lnSpc>
                <a:spcPct val="100000"/>
              </a:lnSpc>
              <a:spcBef>
                <a:spcPts val="0"/>
              </a:spcBef>
              <a:spcAft>
                <a:spcPts val="200"/>
              </a:spcAft>
              <a:defRPr sz="1100" b="1" i="0">
                <a:solidFill>
                  <a:srgbClr val="FFFFFF"/>
                </a:solidFill>
                <a:latin typeface="Calibri"/>
              </a:defRPr>
            </a:pPr>
            <a:r>
              <a:t>01 Clarify</a:t>
            </a:r>
          </a:p>
        </p:txBody>
      </p:sp>
      <p:sp>
        <p:nvSpPr>
          <p:cNvPr id="32" name="Rounded Rectangle 31"/>
          <p:cNvSpPr/>
          <p:nvPr/>
        </p:nvSpPr>
        <p:spPr>
          <a:xfrm>
            <a:off x="3273552" y="5230368"/>
            <a:ext cx="1600200" cy="45720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73552" y="5266944"/>
            <a:ext cx="1600200" cy="384048"/>
          </a:xfrm>
          <a:prstGeom prst="rect">
            <a:avLst/>
          </a:prstGeom>
          <a:noFill/>
        </p:spPr>
        <p:txBody>
          <a:bodyPr wrap="square" anchor="t"/>
          <a:lstStyle/>
          <a:p>
            <a:pPr algn="ctr">
              <a:lnSpc>
                <a:spcPct val="100000"/>
              </a:lnSpc>
              <a:spcBef>
                <a:spcPts val="0"/>
              </a:spcBef>
              <a:spcAft>
                <a:spcPts val="200"/>
              </a:spcAft>
              <a:defRPr sz="1100" b="1" i="0">
                <a:solidFill>
                  <a:srgbClr val="FFFFFF"/>
                </a:solidFill>
                <a:latin typeface="Calibri"/>
              </a:defRPr>
            </a:pPr>
            <a:r>
              <a:t>04 Diagnose</a:t>
            </a:r>
          </a:p>
        </p:txBody>
      </p:sp>
      <p:sp>
        <p:nvSpPr>
          <p:cNvPr id="34" name="Rounded Rectangle 33"/>
          <p:cNvSpPr/>
          <p:nvPr/>
        </p:nvSpPr>
        <p:spPr>
          <a:xfrm>
            <a:off x="5084064" y="5230368"/>
            <a:ext cx="1600200" cy="457200"/>
          </a:xfrm>
          <a:prstGeom prst="roundRect">
            <a:avLst>
              <a:gd name="adj" fmla="val 5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84064" y="5266944"/>
            <a:ext cx="1600200" cy="384048"/>
          </a:xfrm>
          <a:prstGeom prst="rect">
            <a:avLst/>
          </a:prstGeom>
          <a:noFill/>
        </p:spPr>
        <p:txBody>
          <a:bodyPr wrap="square" anchor="t"/>
          <a:lstStyle/>
          <a:p>
            <a:pPr algn="ctr">
              <a:lnSpc>
                <a:spcPct val="100000"/>
              </a:lnSpc>
              <a:spcBef>
                <a:spcPts val="0"/>
              </a:spcBef>
              <a:spcAft>
                <a:spcPts val="200"/>
              </a:spcAft>
              <a:defRPr sz="1100" b="1" i="0">
                <a:solidFill>
                  <a:srgbClr val="FFFFFF"/>
                </a:solidFill>
                <a:latin typeface="Calibri"/>
              </a:defRPr>
            </a:pPr>
            <a:r>
              <a:t>02 Empathize</a:t>
            </a:r>
          </a:p>
        </p:txBody>
      </p:sp>
      <p:sp>
        <p:nvSpPr>
          <p:cNvPr id="36" name="Rounded Rectangle 35"/>
          <p:cNvSpPr/>
          <p:nvPr/>
        </p:nvSpPr>
        <p:spPr>
          <a:xfrm>
            <a:off x="6894576" y="5230368"/>
            <a:ext cx="1600200" cy="45720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94576" y="5266944"/>
            <a:ext cx="1600200" cy="384048"/>
          </a:xfrm>
          <a:prstGeom prst="rect">
            <a:avLst/>
          </a:prstGeom>
          <a:noFill/>
        </p:spPr>
        <p:txBody>
          <a:bodyPr wrap="square" anchor="t"/>
          <a:lstStyle/>
          <a:p>
            <a:pPr algn="ctr">
              <a:lnSpc>
                <a:spcPct val="100000"/>
              </a:lnSpc>
              <a:spcBef>
                <a:spcPts val="0"/>
              </a:spcBef>
              <a:spcAft>
                <a:spcPts val="200"/>
              </a:spcAft>
              <a:defRPr sz="1100" b="1" i="0">
                <a:solidFill>
                  <a:srgbClr val="FFFFFF"/>
                </a:solidFill>
                <a:latin typeface="Calibri"/>
              </a:defRPr>
            </a:pPr>
            <a:r>
              <a:t>03 Bound</a:t>
            </a:r>
          </a:p>
        </p:txBody>
      </p:sp>
      <p:sp>
        <p:nvSpPr>
          <p:cNvPr id="38" name="Rounded Rectangle 37"/>
          <p:cNvSpPr/>
          <p:nvPr/>
        </p:nvSpPr>
        <p:spPr>
          <a:xfrm>
            <a:off x="8705088" y="5230368"/>
            <a:ext cx="1600200" cy="457200"/>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05088" y="5266944"/>
            <a:ext cx="1600200" cy="384048"/>
          </a:xfrm>
          <a:prstGeom prst="rect">
            <a:avLst/>
          </a:prstGeom>
          <a:noFill/>
        </p:spPr>
        <p:txBody>
          <a:bodyPr wrap="square" anchor="t"/>
          <a:lstStyle/>
          <a:p>
            <a:pPr algn="ctr">
              <a:lnSpc>
                <a:spcPct val="100000"/>
              </a:lnSpc>
              <a:spcBef>
                <a:spcPts val="0"/>
              </a:spcBef>
              <a:spcAft>
                <a:spcPts val="200"/>
              </a:spcAft>
              <a:defRPr sz="1100" b="1" i="0">
                <a:solidFill>
                  <a:srgbClr val="FFFFFF"/>
                </a:solidFill>
                <a:latin typeface="Calibri"/>
              </a:defRPr>
            </a:pPr>
            <a:r>
              <a:t>05 Evidence</a:t>
            </a:r>
          </a:p>
        </p:txBody>
      </p:sp>
      <p:sp>
        <p:nvSpPr>
          <p:cNvPr id="40" name="TextBox 39"/>
          <p:cNvSpPr txBox="1"/>
          <p:nvPr/>
        </p:nvSpPr>
        <p:spPr>
          <a:xfrm>
            <a:off x="548640" y="5897880"/>
            <a:ext cx="11091672" cy="411480"/>
          </a:xfrm>
          <a:prstGeom prst="rect">
            <a:avLst/>
          </a:prstGeom>
          <a:noFill/>
        </p:spPr>
        <p:txBody>
          <a:bodyPr wrap="square" anchor="t"/>
          <a:lstStyle/>
          <a:p>
            <a:pPr algn="ctr">
              <a:lnSpc>
                <a:spcPct val="100000"/>
              </a:lnSpc>
              <a:spcBef>
                <a:spcPts val="0"/>
              </a:spcBef>
              <a:spcAft>
                <a:spcPts val="200"/>
              </a:spcAft>
              <a:defRPr sz="1200" b="0" i="0">
                <a:solidFill>
                  <a:srgbClr val="1A2332"/>
                </a:solidFill>
                <a:latin typeface="Calibri"/>
              </a:defRPr>
            </a:pPr>
            <a:r>
              <a:t>Rule of the deck: diagnose the driver first, then pick the playbook. Details on slides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92400E"/>
                </a:solidFill>
                <a:latin typeface="Calibri"/>
              </a:defRPr>
            </a:pPr>
            <a:r>
              <a:t>01 · PERFECTIONISTIC CLIENT  ·  DRIVER: STANDARDS</a:t>
            </a:r>
          </a:p>
        </p:txBody>
      </p:sp>
      <p:sp>
        <p:nvSpPr>
          <p:cNvPr id="3" name="TextBox 2"/>
          <p:cNvSpPr txBox="1"/>
          <p:nvPr/>
        </p:nvSpPr>
        <p:spPr>
          <a:xfrm>
            <a:off x="548640" y="621792"/>
            <a:ext cx="77724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Precision is the love language.</a:t>
            </a:r>
          </a:p>
        </p:txBody>
      </p:sp>
      <p:sp>
        <p:nvSpPr>
          <p:cNvPr id="4" name="Oval 3"/>
          <p:cNvSpPr/>
          <p:nvPr/>
        </p:nvSpPr>
        <p:spPr>
          <a:xfrm>
            <a:off x="10515600" y="457200"/>
            <a:ext cx="914400" cy="9144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rosshair.png"/>
          <p:cNvPicPr>
            <a:picLocks noChangeAspect="1"/>
          </p:cNvPicPr>
          <p:nvPr/>
        </p:nvPicPr>
        <p:blipFill>
          <a:blip r:embed="rId2"/>
          <a:stretch>
            <a:fillRect/>
          </a:stretch>
        </p:blipFill>
        <p:spPr>
          <a:xfrm>
            <a:off x="10698480" y="640080"/>
            <a:ext cx="548640" cy="548640"/>
          </a:xfrm>
          <a:prstGeom prst="rect">
            <a:avLst/>
          </a:prstGeom>
        </p:spPr>
      </p:pic>
      <p:sp>
        <p:nvSpPr>
          <p:cNvPr id="6" name="TextBox 5"/>
          <p:cNvSpPr txBox="1"/>
          <p:nvPr/>
        </p:nvSpPr>
        <p:spPr>
          <a:xfrm>
            <a:off x="548640" y="1298448"/>
            <a:ext cx="10058400" cy="32004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They don’t trust vague. Make quality verifiable — early, in writing, in milestones.</a:t>
            </a:r>
          </a:p>
        </p:txBody>
      </p:sp>
      <p:sp>
        <p:nvSpPr>
          <p:cNvPr id="7" name="Rounded Rectangle 6"/>
          <p:cNvSpPr/>
          <p:nvPr/>
        </p:nvSpPr>
        <p:spPr>
          <a:xfrm>
            <a:off x="548640" y="1874519"/>
            <a:ext cx="5440680" cy="3063240"/>
          </a:xfrm>
          <a:prstGeom prst="roundRect">
            <a:avLst>
              <a:gd name="adj" fmla="val 4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93392"/>
            <a:ext cx="4937760" cy="320040"/>
          </a:xfrm>
          <a:prstGeom prst="rect">
            <a:avLst/>
          </a:prstGeom>
          <a:noFill/>
        </p:spPr>
        <p:txBody>
          <a:bodyPr wrap="square" anchor="t"/>
          <a:lstStyle/>
          <a:p>
            <a:pPr algn="l">
              <a:lnSpc>
                <a:spcPct val="100000"/>
              </a:lnSpc>
              <a:spcBef>
                <a:spcPts val="0"/>
              </a:spcBef>
              <a:spcAft>
                <a:spcPts val="200"/>
              </a:spcAft>
              <a:defRPr sz="1100" b="1" i="0">
                <a:solidFill>
                  <a:srgbClr val="92400E"/>
                </a:solidFill>
                <a:latin typeface="Calibri"/>
              </a:defRPr>
            </a:pPr>
            <a:r>
              <a:t>SPOT IT  ·  traits</a:t>
            </a:r>
          </a:p>
        </p:txBody>
      </p:sp>
      <p:sp>
        <p:nvSpPr>
          <p:cNvPr id="9" name="TextBox 8"/>
          <p:cNvSpPr txBox="1"/>
          <p:nvPr/>
        </p:nvSpPr>
        <p:spPr>
          <a:xfrm>
            <a:off x="822960" y="2331720"/>
            <a:ext cx="4937760" cy="2560320"/>
          </a:xfrm>
          <a:prstGeom prst="rect">
            <a:avLst/>
          </a:prstGeom>
          <a:noFill/>
        </p:spPr>
        <p:txBody>
          <a:bodyPr wrap="square" anchor="t"/>
          <a:lstStyle/>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Expects highly detailed, precise work</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Zooms in on minor details; highly critical</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Requests repeated revisions</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Puts perfection before speed</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Creates delays through excessive detail</a:t>
            </a:r>
          </a:p>
        </p:txBody>
      </p:sp>
      <p:sp>
        <p:nvSpPr>
          <p:cNvPr id="10" name="Rounded Rectangle 9"/>
          <p:cNvSpPr/>
          <p:nvPr/>
        </p:nvSpPr>
        <p:spPr>
          <a:xfrm>
            <a:off x="6199632" y="1874519"/>
            <a:ext cx="5440680" cy="3063240"/>
          </a:xfrm>
          <a:prstGeom prst="roundRect">
            <a:avLst>
              <a:gd name="adj" fmla="val 4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993392"/>
            <a:ext cx="4937760" cy="320040"/>
          </a:xfrm>
          <a:prstGeom prst="rect">
            <a:avLst/>
          </a:prstGeom>
          <a:noFill/>
        </p:spPr>
        <p:txBody>
          <a:bodyPr wrap="square" anchor="t"/>
          <a:lstStyle/>
          <a:p>
            <a:pPr algn="l">
              <a:lnSpc>
                <a:spcPct val="100000"/>
              </a:lnSpc>
              <a:spcBef>
                <a:spcPts val="0"/>
              </a:spcBef>
              <a:spcAft>
                <a:spcPts val="200"/>
              </a:spcAft>
              <a:defRPr sz="1100" b="1" i="0">
                <a:solidFill>
                  <a:srgbClr val="92400E"/>
                </a:solidFill>
                <a:latin typeface="Calibri"/>
              </a:defRPr>
            </a:pPr>
            <a:r>
              <a:t>PLAYBOOK  ·  what to do</a:t>
            </a:r>
          </a:p>
        </p:txBody>
      </p:sp>
      <p:sp>
        <p:nvSpPr>
          <p:cNvPr id="12" name="TextBox 11"/>
          <p:cNvSpPr txBox="1"/>
          <p:nvPr/>
        </p:nvSpPr>
        <p:spPr>
          <a:xfrm>
            <a:off x="6473952" y="2331720"/>
            <a:ext cx="4937760" cy="2560320"/>
          </a:xfrm>
          <a:prstGeom prst="rect">
            <a:avLst/>
          </a:prstGeom>
          <a:noFill/>
        </p:spPr>
        <p:txBody>
          <a:bodyPr wrap="square" anchor="t"/>
          <a:lstStyle/>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Listen; don’t argue with high standards</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Clarify requirements + acceptance criteria early</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Give accurate information; set realistic timelines</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Milestones with review points; essential vs. optional fixes</a:t>
            </a:r>
          </a:p>
          <a:p>
            <a:pPr algn="l">
              <a:lnSpc>
                <a:spcPct val="100000"/>
              </a:lnSpc>
              <a:spcBef>
                <a:spcPts val="0"/>
              </a:spcBef>
              <a:spcAft>
                <a:spcPts val="600"/>
              </a:spcAft>
              <a:defRPr sz="1200" b="0" i="0">
                <a:solidFill>
                  <a:srgbClr val="1A2332"/>
                </a:solidFill>
                <a:latin typeface="Calibri"/>
              </a:defRPr>
            </a:pPr>
            <a:r>
              <a:rPr sz="1200">
                <a:solidFill>
                  <a:srgbClr val="92400E"/>
                </a:solidFill>
                <a:latin typeface="Calibri"/>
              </a:rPr>
              <a:t>•  </a:t>
            </a:r>
            <a:r>
              <a:rPr sz="1200">
                <a:solidFill>
                  <a:srgbClr val="1A2332"/>
                </a:solidFill>
                <a:latin typeface="Calibri"/>
              </a:rPr>
              <a:t>Document agreed scope; stay patient and professional</a:t>
            </a:r>
          </a:p>
        </p:txBody>
      </p:sp>
      <p:sp>
        <p:nvSpPr>
          <p:cNvPr id="13" name="Rounded Rectangle 12"/>
          <p:cNvSpPr/>
          <p:nvPr/>
        </p:nvSpPr>
        <p:spPr>
          <a:xfrm>
            <a:off x="548640" y="5138928"/>
            <a:ext cx="11091672"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138928"/>
            <a:ext cx="128016" cy="1051560"/>
          </a:xfrm>
          <a:prstGeom prst="roundRect">
            <a:avLst>
              <a:gd name="adj" fmla="val 5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5230368"/>
            <a:ext cx="10634472" cy="868680"/>
          </a:xfrm>
          <a:prstGeom prst="rect">
            <a:avLst/>
          </a:prstGeom>
          <a:noFill/>
        </p:spPr>
        <p:txBody>
          <a:bodyPr wrap="square" anchor="t"/>
          <a:lstStyle/>
          <a:p>
            <a:pPr algn="l">
              <a:lnSpc>
                <a:spcPct val="100000"/>
              </a:lnSpc>
              <a:spcBef>
                <a:spcPts val="0"/>
              </a:spcBef>
              <a:spcAft>
                <a:spcPts val="200"/>
              </a:spcAft>
              <a:defRPr sz="1000" b="1" i="0">
                <a:solidFill>
                  <a:srgbClr val="92400E"/>
                </a:solidFill>
                <a:latin typeface="Calibri"/>
              </a:defRPr>
            </a:pPr>
            <a:r>
              <a:t>SAY IT LIKE THIS</a:t>
            </a:r>
          </a:p>
          <a:p>
            <a:pPr algn="l">
              <a:lnSpc>
                <a:spcPct val="100000"/>
              </a:lnSpc>
              <a:spcBef>
                <a:spcPts val="200"/>
              </a:spcBef>
              <a:spcAft>
                <a:spcPts val="200"/>
              </a:spcAft>
              <a:defRPr sz="1200" b="0" i="1">
                <a:solidFill>
                  <a:srgbClr val="1A2332"/>
                </a:solidFill>
                <a:latin typeface="Calibri"/>
              </a:defRPr>
            </a:pPr>
            <a:r>
              <a:t>“To hit your standard, let’s lock acceptance criteria now — I’ll send milestone 1 Friday for review, then we freeze it before moving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1E40AF"/>
                </a:solidFill>
                <a:latin typeface="Calibri"/>
              </a:defRPr>
            </a:pPr>
            <a:r>
              <a:t>02 · DEFENSIVE CLIENT  ·  DRIVER: SAFETY</a:t>
            </a:r>
          </a:p>
        </p:txBody>
      </p:sp>
      <p:sp>
        <p:nvSpPr>
          <p:cNvPr id="3" name="TextBox 2"/>
          <p:cNvSpPr txBox="1"/>
          <p:nvPr/>
        </p:nvSpPr>
        <p:spPr>
          <a:xfrm>
            <a:off x="548640" y="621792"/>
            <a:ext cx="77724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Feedback feels like an attack.</a:t>
            </a:r>
          </a:p>
        </p:txBody>
      </p:sp>
      <p:sp>
        <p:nvSpPr>
          <p:cNvPr id="4" name="Oval 3"/>
          <p:cNvSpPr/>
          <p:nvPr/>
        </p:nvSpPr>
        <p:spPr>
          <a:xfrm>
            <a:off x="10515600" y="457200"/>
            <a:ext cx="914400" cy="914400"/>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ield.png"/>
          <p:cNvPicPr>
            <a:picLocks noChangeAspect="1"/>
          </p:cNvPicPr>
          <p:nvPr/>
        </p:nvPicPr>
        <p:blipFill>
          <a:blip r:embed="rId2"/>
          <a:stretch>
            <a:fillRect/>
          </a:stretch>
        </p:blipFill>
        <p:spPr>
          <a:xfrm>
            <a:off x="10698480" y="640080"/>
            <a:ext cx="548640" cy="548640"/>
          </a:xfrm>
          <a:prstGeom prst="rect">
            <a:avLst/>
          </a:prstGeom>
        </p:spPr>
      </p:pic>
      <p:sp>
        <p:nvSpPr>
          <p:cNvPr id="6" name="TextBox 5"/>
          <p:cNvSpPr txBox="1"/>
          <p:nvPr/>
        </p:nvSpPr>
        <p:spPr>
          <a:xfrm>
            <a:off x="548640" y="1298448"/>
            <a:ext cx="10058400" cy="32004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Lower the threat first. When they feel safe, they can hear the fix.</a:t>
            </a:r>
          </a:p>
        </p:txBody>
      </p:sp>
      <p:sp>
        <p:nvSpPr>
          <p:cNvPr id="7" name="Rounded Rectangle 6"/>
          <p:cNvSpPr/>
          <p:nvPr/>
        </p:nvSpPr>
        <p:spPr>
          <a:xfrm>
            <a:off x="548640" y="1874519"/>
            <a:ext cx="3520440" cy="3017520"/>
          </a:xfrm>
          <a:prstGeom prst="roundRect">
            <a:avLst>
              <a:gd name="adj" fmla="val 5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93392"/>
            <a:ext cx="3108960" cy="320040"/>
          </a:xfrm>
          <a:prstGeom prst="rect">
            <a:avLst/>
          </a:prstGeom>
          <a:noFill/>
        </p:spPr>
        <p:txBody>
          <a:bodyPr wrap="square" anchor="t"/>
          <a:lstStyle/>
          <a:p>
            <a:pPr algn="l">
              <a:lnSpc>
                <a:spcPct val="100000"/>
              </a:lnSpc>
              <a:spcBef>
                <a:spcPts val="0"/>
              </a:spcBef>
              <a:spcAft>
                <a:spcPts val="200"/>
              </a:spcAft>
              <a:defRPr sz="1100" b="1" i="0">
                <a:solidFill>
                  <a:srgbClr val="1E40AF"/>
                </a:solidFill>
                <a:latin typeface="Calibri"/>
              </a:defRPr>
            </a:pPr>
            <a:r>
              <a:t>SPOT IT</a:t>
            </a:r>
          </a:p>
        </p:txBody>
      </p:sp>
      <p:sp>
        <p:nvSpPr>
          <p:cNvPr id="9" name="TextBox 8"/>
          <p:cNvSpPr txBox="1"/>
          <p:nvPr/>
        </p:nvSpPr>
        <p:spPr>
          <a:xfrm>
            <a:off x="777240" y="2331720"/>
            <a:ext cx="3108960" cy="2468880"/>
          </a:xfrm>
          <a:prstGeom prst="rect">
            <a:avLst/>
          </a:prstGeom>
          <a:noFill/>
        </p:spPr>
        <p:txBody>
          <a:bodyPr wrap="square" anchor="t"/>
          <a:lstStyle/>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Takes feedback personally</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Reacts defensively; struggles to admit mistakes</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Justifies instead of considering input</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Reads corrections as personal criticism</a:t>
            </a:r>
          </a:p>
        </p:txBody>
      </p:sp>
      <p:sp>
        <p:nvSpPr>
          <p:cNvPr id="10" name="Rounded Rectangle 9"/>
          <p:cNvSpPr/>
          <p:nvPr/>
        </p:nvSpPr>
        <p:spPr>
          <a:xfrm>
            <a:off x="4279392" y="1874519"/>
            <a:ext cx="3520440" cy="3017520"/>
          </a:xfrm>
          <a:prstGeom prst="roundRect">
            <a:avLst>
              <a:gd name="adj" fmla="val 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1993392"/>
            <a:ext cx="3108960" cy="320040"/>
          </a:xfrm>
          <a:prstGeom prst="rect">
            <a:avLst/>
          </a:prstGeom>
          <a:noFill/>
        </p:spPr>
        <p:txBody>
          <a:bodyPr wrap="square" anchor="t"/>
          <a:lstStyle/>
          <a:p>
            <a:pPr algn="l">
              <a:lnSpc>
                <a:spcPct val="100000"/>
              </a:lnSpc>
              <a:spcBef>
                <a:spcPts val="0"/>
              </a:spcBef>
              <a:spcAft>
                <a:spcPts val="200"/>
              </a:spcAft>
              <a:defRPr sz="1100" b="1" i="0">
                <a:solidFill>
                  <a:srgbClr val="1E40AF"/>
                </a:solidFill>
                <a:latin typeface="Calibri"/>
              </a:defRPr>
            </a:pPr>
            <a:r>
              <a:t>PLAYBOOK</a:t>
            </a:r>
          </a:p>
        </p:txBody>
      </p:sp>
      <p:sp>
        <p:nvSpPr>
          <p:cNvPr id="12" name="TextBox 11"/>
          <p:cNvSpPr txBox="1"/>
          <p:nvPr/>
        </p:nvSpPr>
        <p:spPr>
          <a:xfrm>
            <a:off x="4507992" y="2331720"/>
            <a:ext cx="3108960" cy="2468880"/>
          </a:xfrm>
          <a:prstGeom prst="rect">
            <a:avLst/>
          </a:prstGeom>
          <a:noFill/>
        </p:spPr>
        <p:txBody>
          <a:bodyPr wrap="square" anchor="t"/>
          <a:lstStyle/>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Stay calm: listen actively, show empathy</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Neutral language; problem, not person</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No blame; ask before assuming</a:t>
            </a:r>
          </a:p>
          <a:p>
            <a:pPr algn="l">
              <a:lnSpc>
                <a:spcPct val="100000"/>
              </a:lnSpc>
              <a:spcBef>
                <a:spcPts val="0"/>
              </a:spcBef>
              <a:spcAft>
                <a:spcPts val="700"/>
              </a:spcAft>
              <a:defRPr sz="1200" b="0" i="0">
                <a:solidFill>
                  <a:srgbClr val="1A2332"/>
                </a:solidFill>
                <a:latin typeface="Calibri"/>
              </a:defRPr>
            </a:pPr>
            <a:r>
              <a:rPr sz="1200">
                <a:solidFill>
                  <a:srgbClr val="1E40AF"/>
                </a:solidFill>
                <a:latin typeface="Calibri"/>
              </a:rPr>
              <a:t>•  </a:t>
            </a:r>
            <a:r>
              <a:rPr sz="1200">
                <a:solidFill>
                  <a:srgbClr val="1A2332"/>
                </a:solidFill>
                <a:latin typeface="Calibri"/>
              </a:rPr>
              <a:t>Offer practical fixes; co-solve together</a:t>
            </a:r>
          </a:p>
        </p:txBody>
      </p:sp>
      <p:sp>
        <p:nvSpPr>
          <p:cNvPr id="13" name="Rounded Rectangle 12"/>
          <p:cNvSpPr/>
          <p:nvPr/>
        </p:nvSpPr>
        <p:spPr>
          <a:xfrm>
            <a:off x="8010144" y="1874519"/>
            <a:ext cx="3630168" cy="3017520"/>
          </a:xfrm>
          <a:prstGeom prst="roundRect">
            <a:avLst>
              <a:gd name="adj" fmla="val 5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993392"/>
            <a:ext cx="3200400" cy="320040"/>
          </a:xfrm>
          <a:prstGeom prst="rect">
            <a:avLst/>
          </a:prstGeom>
          <a:noFill/>
        </p:spPr>
        <p:txBody>
          <a:bodyPr wrap="square" anchor="t"/>
          <a:lstStyle/>
          <a:p>
            <a:pPr algn="l">
              <a:lnSpc>
                <a:spcPct val="100000"/>
              </a:lnSpc>
              <a:spcBef>
                <a:spcPts val="0"/>
              </a:spcBef>
              <a:spcAft>
                <a:spcPts val="200"/>
              </a:spcAft>
              <a:defRPr sz="1100" b="1" i="0">
                <a:solidFill>
                  <a:srgbClr val="FFFFFF"/>
                </a:solidFill>
                <a:latin typeface="Calibri"/>
              </a:defRPr>
            </a:pPr>
            <a:r>
              <a:t>IN THE CHAT</a:t>
            </a:r>
          </a:p>
        </p:txBody>
      </p:sp>
      <p:sp>
        <p:nvSpPr>
          <p:cNvPr id="15" name="TextBox 14"/>
          <p:cNvSpPr txBox="1"/>
          <p:nvPr/>
        </p:nvSpPr>
        <p:spPr>
          <a:xfrm>
            <a:off x="8238744" y="2377440"/>
            <a:ext cx="3200400" cy="960120"/>
          </a:xfrm>
          <a:prstGeom prst="rect">
            <a:avLst/>
          </a:prstGeom>
          <a:noFill/>
        </p:spPr>
        <p:txBody>
          <a:bodyPr wrap="square" anchor="t"/>
          <a:lstStyle/>
          <a:p>
            <a:pPr algn="l">
              <a:lnSpc>
                <a:spcPct val="100000"/>
              </a:lnSpc>
              <a:spcBef>
                <a:spcPts val="0"/>
              </a:spcBef>
              <a:spcAft>
                <a:spcPts val="200"/>
              </a:spcAft>
              <a:defRPr sz="1000" b="1" i="0">
                <a:solidFill>
                  <a:srgbClr val="F38B8B"/>
                </a:solidFill>
                <a:latin typeface="Calibri"/>
              </a:defRPr>
            </a:pPr>
            <a:r>
              <a:t>✕  Instead of:</a:t>
            </a:r>
          </a:p>
          <a:p>
            <a:pPr algn="l">
              <a:lnSpc>
                <a:spcPct val="100000"/>
              </a:lnSpc>
              <a:spcBef>
                <a:spcPts val="0"/>
              </a:spcBef>
              <a:spcAft>
                <a:spcPts val="200"/>
              </a:spcAft>
              <a:defRPr sz="1200" b="0" i="1">
                <a:solidFill>
                  <a:srgbClr val="FFFFFF"/>
                </a:solidFill>
                <a:latin typeface="Calibri"/>
              </a:defRPr>
            </a:pPr>
            <a:r>
              <a:t>“You’re wrong about the file.”</a:t>
            </a:r>
          </a:p>
        </p:txBody>
      </p:sp>
      <p:sp>
        <p:nvSpPr>
          <p:cNvPr id="16" name="TextBox 15"/>
          <p:cNvSpPr txBox="1"/>
          <p:nvPr/>
        </p:nvSpPr>
        <p:spPr>
          <a:xfrm>
            <a:off x="8238744" y="3429000"/>
            <a:ext cx="3200400" cy="1280160"/>
          </a:xfrm>
          <a:prstGeom prst="rect">
            <a:avLst/>
          </a:prstGeom>
          <a:noFill/>
        </p:spPr>
        <p:txBody>
          <a:bodyPr wrap="square" anchor="t"/>
          <a:lstStyle/>
          <a:p>
            <a:pPr algn="l">
              <a:lnSpc>
                <a:spcPct val="100000"/>
              </a:lnSpc>
              <a:spcBef>
                <a:spcPts val="0"/>
              </a:spcBef>
              <a:spcAft>
                <a:spcPts val="200"/>
              </a:spcAft>
              <a:defRPr sz="1000" b="1" i="0">
                <a:solidFill>
                  <a:srgbClr val="6EE8B7"/>
                </a:solidFill>
                <a:latin typeface="Calibri"/>
              </a:defRPr>
            </a:pPr>
            <a:r>
              <a:t>✓  Try:</a:t>
            </a:r>
          </a:p>
          <a:p>
            <a:pPr algn="l">
              <a:lnSpc>
                <a:spcPct val="100000"/>
              </a:lnSpc>
              <a:spcBef>
                <a:spcPts val="0"/>
              </a:spcBef>
              <a:spcAft>
                <a:spcPts val="200"/>
              </a:spcAft>
              <a:defRPr sz="1200" b="0" i="1">
                <a:solidFill>
                  <a:srgbClr val="FFFFFF"/>
                </a:solidFill>
                <a:latin typeface="Calibri"/>
              </a:defRPr>
            </a:pPr>
            <a:r>
              <a:t>“I see why that version made sense — let’s fix the export together. What did you intend here?”</a:t>
            </a:r>
          </a:p>
        </p:txBody>
      </p:sp>
      <p:sp>
        <p:nvSpPr>
          <p:cNvPr id="17" name="Rounded Rectangle 16"/>
          <p:cNvSpPr/>
          <p:nvPr/>
        </p:nvSpPr>
        <p:spPr>
          <a:xfrm>
            <a:off x="548640" y="5093208"/>
            <a:ext cx="11091672"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5093208"/>
            <a:ext cx="128016" cy="1051560"/>
          </a:xfrm>
          <a:prstGeom prst="roundRect">
            <a:avLst>
              <a:gd name="adj" fmla="val 50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5184648"/>
            <a:ext cx="10634472" cy="868680"/>
          </a:xfrm>
          <a:prstGeom prst="rect">
            <a:avLst/>
          </a:prstGeom>
          <a:noFill/>
        </p:spPr>
        <p:txBody>
          <a:bodyPr wrap="square" anchor="t"/>
          <a:lstStyle/>
          <a:p>
            <a:pPr algn="l">
              <a:lnSpc>
                <a:spcPct val="100000"/>
              </a:lnSpc>
              <a:spcBef>
                <a:spcPts val="0"/>
              </a:spcBef>
              <a:spcAft>
                <a:spcPts val="200"/>
              </a:spcAft>
              <a:defRPr sz="1000" b="1" i="0">
                <a:solidFill>
                  <a:srgbClr val="1E40AF"/>
                </a:solidFill>
                <a:latin typeface="Calibri"/>
              </a:defRPr>
            </a:pPr>
            <a:r>
              <a:t>WHY IT WORKS</a:t>
            </a:r>
          </a:p>
          <a:p>
            <a:pPr algn="l">
              <a:lnSpc>
                <a:spcPct val="100000"/>
              </a:lnSpc>
              <a:spcBef>
                <a:spcPts val="200"/>
              </a:spcBef>
              <a:spcAft>
                <a:spcPts val="200"/>
              </a:spcAft>
              <a:defRPr sz="1200" b="0" i="1">
                <a:solidFill>
                  <a:srgbClr val="1A2332"/>
                </a:solidFill>
                <a:latin typeface="Calibri"/>
              </a:defRPr>
            </a:pPr>
            <a:r>
              <a:t>No blame, one question, one invitation: you separate the person from the problem and hand them a role in the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B91C1C"/>
                </a:solidFill>
                <a:latin typeface="Calibri"/>
              </a:defRPr>
            </a:pPr>
            <a:r>
              <a:t>03 · AGGRESSIVE CLIENT  ·  DRIVER: CONTROL</a:t>
            </a:r>
          </a:p>
        </p:txBody>
      </p:sp>
      <p:sp>
        <p:nvSpPr>
          <p:cNvPr id="3" name="TextBox 2"/>
          <p:cNvSpPr txBox="1"/>
          <p:nvPr/>
        </p:nvSpPr>
        <p:spPr>
          <a:xfrm>
            <a:off x="548640" y="621792"/>
            <a:ext cx="77724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Heat up, or hold the line?</a:t>
            </a:r>
          </a:p>
        </p:txBody>
      </p:sp>
      <p:sp>
        <p:nvSpPr>
          <p:cNvPr id="4" name="Oval 3"/>
          <p:cNvSpPr/>
          <p:nvPr/>
        </p:nvSpPr>
        <p:spPr>
          <a:xfrm>
            <a:off x="10515600" y="457200"/>
            <a:ext cx="914400" cy="9144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ame.png"/>
          <p:cNvPicPr>
            <a:picLocks noChangeAspect="1"/>
          </p:cNvPicPr>
          <p:nvPr/>
        </p:nvPicPr>
        <p:blipFill>
          <a:blip r:embed="rId2"/>
          <a:stretch>
            <a:fillRect/>
          </a:stretch>
        </p:blipFill>
        <p:spPr>
          <a:xfrm>
            <a:off x="10698480" y="640080"/>
            <a:ext cx="548640" cy="548640"/>
          </a:xfrm>
          <a:prstGeom prst="rect">
            <a:avLst/>
          </a:prstGeom>
        </p:spPr>
      </p:pic>
      <p:sp>
        <p:nvSpPr>
          <p:cNvPr id="6" name="TextBox 5"/>
          <p:cNvSpPr txBox="1"/>
          <p:nvPr/>
        </p:nvSpPr>
        <p:spPr>
          <a:xfrm>
            <a:off x="548640" y="1298448"/>
            <a:ext cx="10058400" cy="32004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Never mirror the volume. Acknowledge fast, then move everything to facts and next steps.</a:t>
            </a:r>
          </a:p>
        </p:txBody>
      </p:sp>
      <p:sp>
        <p:nvSpPr>
          <p:cNvPr id="7" name="Rounded Rectangle 6"/>
          <p:cNvSpPr/>
          <p:nvPr/>
        </p:nvSpPr>
        <p:spPr>
          <a:xfrm>
            <a:off x="548640" y="1847088"/>
            <a:ext cx="11091672" cy="1170432"/>
          </a:xfrm>
          <a:prstGeom prst="roundRect">
            <a:avLst>
              <a:gd name="adj" fmla="val 6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38528"/>
            <a:ext cx="10515600" cy="274320"/>
          </a:xfrm>
          <a:prstGeom prst="rect">
            <a:avLst/>
          </a:prstGeom>
          <a:noFill/>
        </p:spPr>
        <p:txBody>
          <a:bodyPr wrap="square" anchor="t"/>
          <a:lstStyle/>
          <a:p>
            <a:pPr algn="l">
              <a:lnSpc>
                <a:spcPct val="100000"/>
              </a:lnSpc>
              <a:spcBef>
                <a:spcPts val="0"/>
              </a:spcBef>
              <a:spcAft>
                <a:spcPts val="200"/>
              </a:spcAft>
              <a:defRPr sz="1100" b="1" i="0">
                <a:solidFill>
                  <a:srgbClr val="B91C1C"/>
                </a:solidFill>
                <a:latin typeface="Calibri"/>
              </a:defRPr>
            </a:pPr>
            <a:r>
              <a:t>SPOT IT</a:t>
            </a:r>
          </a:p>
        </p:txBody>
      </p:sp>
      <p:sp>
        <p:nvSpPr>
          <p:cNvPr id="9" name="TextBox 8"/>
          <p:cNvSpPr txBox="1"/>
          <p:nvPr/>
        </p:nvSpPr>
        <p:spPr>
          <a:xfrm>
            <a:off x="822960" y="2267712"/>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Speaks loudly</a:t>
            </a:r>
          </a:p>
        </p:txBody>
      </p:sp>
      <p:sp>
        <p:nvSpPr>
          <p:cNvPr id="10" name="TextBox 9"/>
          <p:cNvSpPr txBox="1"/>
          <p:nvPr/>
        </p:nvSpPr>
        <p:spPr>
          <a:xfrm>
            <a:off x="4434840" y="2267712"/>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Strong, confrontational language</a:t>
            </a:r>
          </a:p>
        </p:txBody>
      </p:sp>
      <p:sp>
        <p:nvSpPr>
          <p:cNvPr id="11" name="TextBox 10"/>
          <p:cNvSpPr txBox="1"/>
          <p:nvPr/>
        </p:nvSpPr>
        <p:spPr>
          <a:xfrm>
            <a:off x="8046720" y="2267712"/>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Gives commands</a:t>
            </a:r>
          </a:p>
        </p:txBody>
      </p:sp>
      <p:sp>
        <p:nvSpPr>
          <p:cNvPr id="12" name="TextBox 11"/>
          <p:cNvSpPr txBox="1"/>
          <p:nvPr/>
        </p:nvSpPr>
        <p:spPr>
          <a:xfrm>
            <a:off x="822960" y="2651760"/>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Demanding; pressures for immediate answers</a:t>
            </a:r>
          </a:p>
        </p:txBody>
      </p:sp>
      <p:sp>
        <p:nvSpPr>
          <p:cNvPr id="13" name="TextBox 12"/>
          <p:cNvSpPr txBox="1"/>
          <p:nvPr/>
        </p:nvSpPr>
        <p:spPr>
          <a:xfrm>
            <a:off x="4434840" y="2651760"/>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Interrupts the conversation</a:t>
            </a:r>
          </a:p>
        </p:txBody>
      </p:sp>
      <p:sp>
        <p:nvSpPr>
          <p:cNvPr id="14" name="TextBox 13"/>
          <p:cNvSpPr txBox="1"/>
          <p:nvPr/>
        </p:nvSpPr>
        <p:spPr>
          <a:xfrm>
            <a:off x="8046720" y="2651760"/>
            <a:ext cx="3474720" cy="384048"/>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B91C1C"/>
                </a:solidFill>
                <a:latin typeface="Calibri"/>
              </a:rPr>
              <a:t>•  </a:t>
            </a:r>
            <a:r>
              <a:rPr sz="1200">
                <a:solidFill>
                  <a:srgbClr val="1A2332"/>
                </a:solidFill>
                <a:latin typeface="Calibri"/>
              </a:rPr>
              <a:t>May turn threatening</a:t>
            </a:r>
          </a:p>
        </p:txBody>
      </p:sp>
      <p:sp>
        <p:nvSpPr>
          <p:cNvPr id="15" name="Rounded Rectangle 14"/>
          <p:cNvSpPr/>
          <p:nvPr/>
        </p:nvSpPr>
        <p:spPr>
          <a:xfrm>
            <a:off x="548640" y="3246120"/>
            <a:ext cx="2651760" cy="1417320"/>
          </a:xfrm>
          <a:prstGeom prst="roundRect">
            <a:avLst>
              <a:gd name="adj" fmla="val 8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364992"/>
            <a:ext cx="2286000" cy="365760"/>
          </a:xfrm>
          <a:prstGeom prst="rect">
            <a:avLst/>
          </a:prstGeom>
          <a:noFill/>
        </p:spPr>
        <p:txBody>
          <a:bodyPr wrap="square" anchor="t"/>
          <a:lstStyle/>
          <a:p>
            <a:pPr algn="l">
              <a:lnSpc>
                <a:spcPct val="100000"/>
              </a:lnSpc>
              <a:spcBef>
                <a:spcPts val="0"/>
              </a:spcBef>
              <a:spcAft>
                <a:spcPts val="200"/>
              </a:spcAft>
              <a:defRPr sz="1100" b="1" i="0">
                <a:solidFill>
                  <a:srgbClr val="B91C1C"/>
                </a:solidFill>
                <a:latin typeface="Calibri"/>
              </a:defRPr>
            </a:pPr>
            <a:r>
              <a:t>1  DON’T MIRROR</a:t>
            </a:r>
          </a:p>
        </p:txBody>
      </p:sp>
      <p:sp>
        <p:nvSpPr>
          <p:cNvPr id="17" name="TextBox 16"/>
          <p:cNvSpPr txBox="1"/>
          <p:nvPr/>
        </p:nvSpPr>
        <p:spPr>
          <a:xfrm>
            <a:off x="731520" y="3749039"/>
            <a:ext cx="2286000" cy="822960"/>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t>Stay calm; no emotional reaction, no matching tone.</a:t>
            </a:r>
          </a:p>
        </p:txBody>
      </p:sp>
      <p:sp>
        <p:nvSpPr>
          <p:cNvPr id="18" name="TextBox 17"/>
          <p:cNvSpPr txBox="1"/>
          <p:nvPr/>
        </p:nvSpPr>
        <p:spPr>
          <a:xfrm>
            <a:off x="3218688" y="3703320"/>
            <a:ext cx="274320" cy="457200"/>
          </a:xfrm>
          <a:prstGeom prst="rect">
            <a:avLst/>
          </a:prstGeom>
          <a:noFill/>
        </p:spPr>
        <p:txBody>
          <a:bodyPr wrap="square" anchor="t"/>
          <a:lstStyle/>
          <a:p>
            <a:pPr algn="ctr">
              <a:lnSpc>
                <a:spcPct val="100000"/>
              </a:lnSpc>
              <a:spcBef>
                <a:spcPts val="0"/>
              </a:spcBef>
              <a:spcAft>
                <a:spcPts val="200"/>
              </a:spcAft>
              <a:defRPr sz="2400" b="1" i="0">
                <a:solidFill>
                  <a:srgbClr val="B91C1C"/>
                </a:solidFill>
                <a:latin typeface="Calibri"/>
              </a:defRPr>
            </a:pPr>
            <a:r>
              <a:t>›</a:t>
            </a:r>
          </a:p>
        </p:txBody>
      </p:sp>
      <p:sp>
        <p:nvSpPr>
          <p:cNvPr id="19" name="Rounded Rectangle 18"/>
          <p:cNvSpPr/>
          <p:nvPr/>
        </p:nvSpPr>
        <p:spPr>
          <a:xfrm>
            <a:off x="3392424" y="3246120"/>
            <a:ext cx="2651760" cy="1417320"/>
          </a:xfrm>
          <a:prstGeom prst="roundRect">
            <a:avLst>
              <a:gd name="adj" fmla="val 8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75304" y="3364992"/>
            <a:ext cx="2286000" cy="365760"/>
          </a:xfrm>
          <a:prstGeom prst="rect">
            <a:avLst/>
          </a:prstGeom>
          <a:noFill/>
        </p:spPr>
        <p:txBody>
          <a:bodyPr wrap="square" anchor="t"/>
          <a:lstStyle/>
          <a:p>
            <a:pPr algn="l">
              <a:lnSpc>
                <a:spcPct val="100000"/>
              </a:lnSpc>
              <a:spcBef>
                <a:spcPts val="0"/>
              </a:spcBef>
              <a:spcAft>
                <a:spcPts val="200"/>
              </a:spcAft>
              <a:defRPr sz="1100" b="1" i="0">
                <a:solidFill>
                  <a:srgbClr val="B91C1C"/>
                </a:solidFill>
                <a:latin typeface="Calibri"/>
              </a:defRPr>
            </a:pPr>
            <a:r>
              <a:t>2  LET THEM LAND</a:t>
            </a:r>
          </a:p>
        </p:txBody>
      </p:sp>
      <p:sp>
        <p:nvSpPr>
          <p:cNvPr id="21" name="TextBox 20"/>
          <p:cNvSpPr txBox="1"/>
          <p:nvPr/>
        </p:nvSpPr>
        <p:spPr>
          <a:xfrm>
            <a:off x="3575304" y="3749039"/>
            <a:ext cx="2286000" cy="822960"/>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t>Hear the concern out; acknowledge the issue plainly.</a:t>
            </a:r>
          </a:p>
        </p:txBody>
      </p:sp>
      <p:sp>
        <p:nvSpPr>
          <p:cNvPr id="22" name="TextBox 21"/>
          <p:cNvSpPr txBox="1"/>
          <p:nvPr/>
        </p:nvSpPr>
        <p:spPr>
          <a:xfrm>
            <a:off x="6062472" y="3703320"/>
            <a:ext cx="274320" cy="457200"/>
          </a:xfrm>
          <a:prstGeom prst="rect">
            <a:avLst/>
          </a:prstGeom>
          <a:noFill/>
        </p:spPr>
        <p:txBody>
          <a:bodyPr wrap="square" anchor="t"/>
          <a:lstStyle/>
          <a:p>
            <a:pPr algn="ctr">
              <a:lnSpc>
                <a:spcPct val="100000"/>
              </a:lnSpc>
              <a:spcBef>
                <a:spcPts val="0"/>
              </a:spcBef>
              <a:spcAft>
                <a:spcPts val="200"/>
              </a:spcAft>
              <a:defRPr sz="2400" b="1" i="0">
                <a:solidFill>
                  <a:srgbClr val="B91C1C"/>
                </a:solidFill>
                <a:latin typeface="Calibri"/>
              </a:defRPr>
            </a:pPr>
            <a:r>
              <a:t>›</a:t>
            </a:r>
          </a:p>
        </p:txBody>
      </p:sp>
      <p:sp>
        <p:nvSpPr>
          <p:cNvPr id="23" name="Rounded Rectangle 22"/>
          <p:cNvSpPr/>
          <p:nvPr/>
        </p:nvSpPr>
        <p:spPr>
          <a:xfrm>
            <a:off x="6236208" y="3246120"/>
            <a:ext cx="2651760" cy="1417320"/>
          </a:xfrm>
          <a:prstGeom prst="roundRect">
            <a:avLst>
              <a:gd name="adj" fmla="val 8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3364992"/>
            <a:ext cx="2286000" cy="365760"/>
          </a:xfrm>
          <a:prstGeom prst="rect">
            <a:avLst/>
          </a:prstGeom>
          <a:noFill/>
        </p:spPr>
        <p:txBody>
          <a:bodyPr wrap="square" anchor="t"/>
          <a:lstStyle/>
          <a:p>
            <a:pPr algn="l">
              <a:lnSpc>
                <a:spcPct val="100000"/>
              </a:lnSpc>
              <a:spcBef>
                <a:spcPts val="0"/>
              </a:spcBef>
              <a:spcAft>
                <a:spcPts val="200"/>
              </a:spcAft>
              <a:defRPr sz="1100" b="1" i="0">
                <a:solidFill>
                  <a:srgbClr val="B91C1C"/>
                </a:solidFill>
                <a:latin typeface="Calibri"/>
              </a:defRPr>
            </a:pPr>
            <a:r>
              <a:t>3  SORT + BOUND</a:t>
            </a:r>
          </a:p>
        </p:txBody>
      </p:sp>
      <p:sp>
        <p:nvSpPr>
          <p:cNvPr id="25" name="TextBox 24"/>
          <p:cNvSpPr txBox="1"/>
          <p:nvPr/>
        </p:nvSpPr>
        <p:spPr>
          <a:xfrm>
            <a:off x="6419088" y="3749039"/>
            <a:ext cx="2286000" cy="822960"/>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t>Separate the legitimate concern from unacceptable behavior; state boundaries.</a:t>
            </a:r>
          </a:p>
        </p:txBody>
      </p:sp>
      <p:sp>
        <p:nvSpPr>
          <p:cNvPr id="26" name="TextBox 25"/>
          <p:cNvSpPr txBox="1"/>
          <p:nvPr/>
        </p:nvSpPr>
        <p:spPr>
          <a:xfrm>
            <a:off x="8906256" y="3703320"/>
            <a:ext cx="274320" cy="457200"/>
          </a:xfrm>
          <a:prstGeom prst="rect">
            <a:avLst/>
          </a:prstGeom>
          <a:noFill/>
        </p:spPr>
        <p:txBody>
          <a:bodyPr wrap="square" anchor="t"/>
          <a:lstStyle/>
          <a:p>
            <a:pPr algn="ctr">
              <a:lnSpc>
                <a:spcPct val="100000"/>
              </a:lnSpc>
              <a:spcBef>
                <a:spcPts val="0"/>
              </a:spcBef>
              <a:spcAft>
                <a:spcPts val="200"/>
              </a:spcAft>
              <a:defRPr sz="2400" b="1" i="0">
                <a:solidFill>
                  <a:srgbClr val="B91C1C"/>
                </a:solidFill>
                <a:latin typeface="Calibri"/>
              </a:defRPr>
            </a:pPr>
            <a:r>
              <a:t>›</a:t>
            </a:r>
          </a:p>
        </p:txBody>
      </p:sp>
      <p:sp>
        <p:nvSpPr>
          <p:cNvPr id="27" name="Rounded Rectangle 26"/>
          <p:cNvSpPr/>
          <p:nvPr/>
        </p:nvSpPr>
        <p:spPr>
          <a:xfrm>
            <a:off x="9079992" y="3246120"/>
            <a:ext cx="2651760" cy="1417320"/>
          </a:xfrm>
          <a:prstGeom prst="roundRect">
            <a:avLst>
              <a:gd name="adj" fmla="val 8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3364992"/>
            <a:ext cx="2286000" cy="365760"/>
          </a:xfrm>
          <a:prstGeom prst="rect">
            <a:avLst/>
          </a:prstGeom>
          <a:noFill/>
        </p:spPr>
        <p:txBody>
          <a:bodyPr wrap="square" anchor="t"/>
          <a:lstStyle/>
          <a:p>
            <a:pPr algn="l">
              <a:lnSpc>
                <a:spcPct val="100000"/>
              </a:lnSpc>
              <a:spcBef>
                <a:spcPts val="0"/>
              </a:spcBef>
              <a:spcAft>
                <a:spcPts val="200"/>
              </a:spcAft>
              <a:defRPr sz="1100" b="1" i="0">
                <a:solidFill>
                  <a:srgbClr val="B91C1C"/>
                </a:solidFill>
                <a:latin typeface="Calibri"/>
              </a:defRPr>
            </a:pPr>
            <a:r>
              <a:t>4  FACTS → NEXT STEP</a:t>
            </a:r>
          </a:p>
        </p:txBody>
      </p:sp>
      <p:sp>
        <p:nvSpPr>
          <p:cNvPr id="29" name="TextBox 28"/>
          <p:cNvSpPr txBox="1"/>
          <p:nvPr/>
        </p:nvSpPr>
        <p:spPr>
          <a:xfrm>
            <a:off x="9262872" y="3749039"/>
            <a:ext cx="2286000" cy="822960"/>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t>Options on the table; agree one concrete move with a time.</a:t>
            </a:r>
          </a:p>
        </p:txBody>
      </p:sp>
      <p:sp>
        <p:nvSpPr>
          <p:cNvPr id="30" name="Rounded Rectangle 29"/>
          <p:cNvSpPr/>
          <p:nvPr/>
        </p:nvSpPr>
        <p:spPr>
          <a:xfrm>
            <a:off x="548640" y="4864608"/>
            <a:ext cx="11091672"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48640" y="4864608"/>
            <a:ext cx="128016" cy="123444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4956048"/>
            <a:ext cx="10634472" cy="1051560"/>
          </a:xfrm>
          <a:prstGeom prst="rect">
            <a:avLst/>
          </a:prstGeom>
          <a:noFill/>
        </p:spPr>
        <p:txBody>
          <a:bodyPr wrap="square" anchor="t"/>
          <a:lstStyle/>
          <a:p>
            <a:pPr algn="l">
              <a:lnSpc>
                <a:spcPct val="100000"/>
              </a:lnSpc>
              <a:spcBef>
                <a:spcPts val="0"/>
              </a:spcBef>
              <a:spcAft>
                <a:spcPts val="200"/>
              </a:spcAft>
              <a:defRPr sz="1000" b="1" i="0">
                <a:solidFill>
                  <a:srgbClr val="B91C1C"/>
                </a:solidFill>
                <a:latin typeface="Calibri"/>
              </a:defRPr>
            </a:pPr>
            <a:r>
              <a:t>SAY IT LIKE THIS</a:t>
            </a:r>
          </a:p>
          <a:p>
            <a:pPr algn="l">
              <a:lnSpc>
                <a:spcPct val="100000"/>
              </a:lnSpc>
              <a:spcBef>
                <a:spcPts val="200"/>
              </a:spcBef>
              <a:spcAft>
                <a:spcPts val="200"/>
              </a:spcAft>
              <a:defRPr sz="1200" b="0" i="1">
                <a:solidFill>
                  <a:srgbClr val="1A2332"/>
                </a:solidFill>
                <a:latin typeface="Calibri"/>
              </a:defRPr>
            </a:pPr>
            <a:r>
              <a:t>“I hear the deadline is at risk — that’s on my radar. Here’s what I can deliver by 5pm, and what needs until tomorrow. Which works for you?”  Calm + facts + choice = control handed back safely.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6D28D9"/>
                </a:solidFill>
                <a:latin typeface="Calibri"/>
              </a:defRPr>
            </a:pPr>
            <a:r>
              <a:t>04 · COMPLAINING CLIENT  ·  DRIVER: DISSATISFACTION</a:t>
            </a:r>
          </a:p>
        </p:txBody>
      </p:sp>
      <p:sp>
        <p:nvSpPr>
          <p:cNvPr id="3" name="TextBox 2"/>
          <p:cNvSpPr txBox="1"/>
          <p:nvPr/>
        </p:nvSpPr>
        <p:spPr>
          <a:xfrm>
            <a:off x="548640" y="621792"/>
            <a:ext cx="77724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Every complaint hides a task.</a:t>
            </a:r>
          </a:p>
        </p:txBody>
      </p:sp>
      <p:sp>
        <p:nvSpPr>
          <p:cNvPr id="4" name="Oval 3"/>
          <p:cNvSpPr/>
          <p:nvPr/>
        </p:nvSpPr>
        <p:spPr>
          <a:xfrm>
            <a:off x="10515600" y="457200"/>
            <a:ext cx="914400" cy="91440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essage-circle-warning.png"/>
          <p:cNvPicPr>
            <a:picLocks noChangeAspect="1"/>
          </p:cNvPicPr>
          <p:nvPr/>
        </p:nvPicPr>
        <p:blipFill>
          <a:blip r:embed="rId2"/>
          <a:stretch>
            <a:fillRect/>
          </a:stretch>
        </p:blipFill>
        <p:spPr>
          <a:xfrm>
            <a:off x="10698480" y="640080"/>
            <a:ext cx="548640" cy="548640"/>
          </a:xfrm>
          <a:prstGeom prst="rect">
            <a:avLst/>
          </a:prstGeom>
        </p:spPr>
      </p:pic>
      <p:sp>
        <p:nvSpPr>
          <p:cNvPr id="6" name="TextBox 5"/>
          <p:cNvSpPr txBox="1"/>
          <p:nvPr/>
        </p:nvSpPr>
        <p:spPr>
          <a:xfrm>
            <a:off x="548640" y="1298448"/>
            <a:ext cx="10058400" cy="32004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Don’t debate the mood — run the flow. Turn noise into an assignment.</a:t>
            </a:r>
          </a:p>
        </p:txBody>
      </p:sp>
      <p:sp>
        <p:nvSpPr>
          <p:cNvPr id="7" name="Rounded Rectangle 6"/>
          <p:cNvSpPr/>
          <p:nvPr/>
        </p:nvSpPr>
        <p:spPr>
          <a:xfrm>
            <a:off x="548640" y="1847088"/>
            <a:ext cx="11091672" cy="1078992"/>
          </a:xfrm>
          <a:prstGeom prst="roundRect">
            <a:avLst>
              <a:gd name="adj" fmla="val 6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38528"/>
            <a:ext cx="10515600" cy="274320"/>
          </a:xfrm>
          <a:prstGeom prst="rect">
            <a:avLst/>
          </a:prstGeom>
          <a:noFill/>
        </p:spPr>
        <p:txBody>
          <a:bodyPr wrap="square" anchor="t"/>
          <a:lstStyle/>
          <a:p>
            <a:pPr algn="l">
              <a:lnSpc>
                <a:spcPct val="100000"/>
              </a:lnSpc>
              <a:spcBef>
                <a:spcPts val="0"/>
              </a:spcBef>
              <a:spcAft>
                <a:spcPts val="200"/>
              </a:spcAft>
              <a:defRPr sz="1100" b="1" i="0">
                <a:solidFill>
                  <a:srgbClr val="6D28D9"/>
                </a:solidFill>
                <a:latin typeface="Calibri"/>
              </a:defRPr>
            </a:pPr>
            <a:r>
              <a:t>SPOT IT  ·  faults everywhere, solutions nowhere</a:t>
            </a:r>
          </a:p>
        </p:txBody>
      </p:sp>
      <p:sp>
        <p:nvSpPr>
          <p:cNvPr id="9" name="TextBox 8"/>
          <p:cNvSpPr txBox="1"/>
          <p:nvPr/>
        </p:nvSpPr>
        <p:spPr>
          <a:xfrm>
            <a:off x="822960" y="2240280"/>
            <a:ext cx="5303520" cy="329184"/>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6D28D9"/>
                </a:solidFill>
                <a:latin typeface="Calibri"/>
              </a:rPr>
              <a:t>•  </a:t>
            </a:r>
            <a:r>
              <a:rPr sz="1200">
                <a:solidFill>
                  <a:srgbClr val="1A2332"/>
                </a:solidFill>
                <a:latin typeface="Calibri"/>
              </a:rPr>
              <a:t>Finds faults; complains repeatedly</a:t>
            </a:r>
          </a:p>
        </p:txBody>
      </p:sp>
      <p:sp>
        <p:nvSpPr>
          <p:cNvPr id="10" name="TextBox 9"/>
          <p:cNvSpPr txBox="1"/>
          <p:nvPr/>
        </p:nvSpPr>
        <p:spPr>
          <a:xfrm>
            <a:off x="6263640" y="2240280"/>
            <a:ext cx="5303520" cy="329184"/>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6D28D9"/>
                </a:solidFill>
                <a:latin typeface="Calibri"/>
              </a:rPr>
              <a:t>•  </a:t>
            </a:r>
            <a:r>
              <a:rPr sz="1200">
                <a:solidFill>
                  <a:srgbClr val="1A2332"/>
                </a:solidFill>
                <a:latin typeface="Calibri"/>
              </a:rPr>
              <a:t>Fixates on negatives; offers no fix</a:t>
            </a:r>
          </a:p>
        </p:txBody>
      </p:sp>
      <p:sp>
        <p:nvSpPr>
          <p:cNvPr id="11" name="TextBox 10"/>
          <p:cNvSpPr txBox="1"/>
          <p:nvPr/>
        </p:nvSpPr>
        <p:spPr>
          <a:xfrm>
            <a:off x="822960" y="2569464"/>
            <a:ext cx="5303520" cy="329184"/>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6D28D9"/>
                </a:solidFill>
                <a:latin typeface="Calibri"/>
              </a:rPr>
              <a:t>•  </a:t>
            </a:r>
            <a:r>
              <a:rPr sz="1200">
                <a:solidFill>
                  <a:srgbClr val="1A2332"/>
                </a:solidFill>
                <a:latin typeface="Calibri"/>
              </a:rPr>
              <a:t>Bundles many issues into one</a:t>
            </a:r>
          </a:p>
        </p:txBody>
      </p:sp>
      <p:sp>
        <p:nvSpPr>
          <p:cNvPr id="12" name="TextBox 11"/>
          <p:cNvSpPr txBox="1"/>
          <p:nvPr/>
        </p:nvSpPr>
        <p:spPr>
          <a:xfrm>
            <a:off x="6263640" y="2569464"/>
            <a:ext cx="5303520" cy="329184"/>
          </a:xfrm>
          <a:prstGeom prst="rect">
            <a:avLst/>
          </a:prstGeom>
          <a:noFill/>
        </p:spPr>
        <p:txBody>
          <a:bodyPr wrap="square" anchor="t"/>
          <a:lstStyle/>
          <a:p>
            <a:pPr algn="l">
              <a:lnSpc>
                <a:spcPct val="100000"/>
              </a:lnSpc>
              <a:spcBef>
                <a:spcPts val="0"/>
              </a:spcBef>
              <a:spcAft>
                <a:spcPts val="200"/>
              </a:spcAft>
              <a:defRPr sz="1200" b="0" i="0">
                <a:solidFill>
                  <a:srgbClr val="1A2332"/>
                </a:solidFill>
                <a:latin typeface="Calibri"/>
              </a:defRPr>
            </a:pPr>
            <a:r>
              <a:rPr sz="1200">
                <a:solidFill>
                  <a:srgbClr val="6D28D9"/>
                </a:solidFill>
                <a:latin typeface="Calibri"/>
              </a:rPr>
              <a:t>•  </a:t>
            </a:r>
            <a:r>
              <a:rPr sz="1200">
                <a:solidFill>
                  <a:srgbClr val="1A2332"/>
                </a:solidFill>
                <a:latin typeface="Calibri"/>
              </a:rPr>
              <a:t>Repeats complaints already resolved</a:t>
            </a:r>
          </a:p>
        </p:txBody>
      </p:sp>
      <p:sp>
        <p:nvSpPr>
          <p:cNvPr id="13" name="Chevron 12"/>
          <p:cNvSpPr/>
          <p:nvPr/>
        </p:nvSpPr>
        <p:spPr>
          <a:xfrm>
            <a:off x="548640" y="3154680"/>
            <a:ext cx="2212848" cy="914400"/>
          </a:xfrm>
          <a:prstGeom prst="chevron">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18688"/>
            <a:ext cx="1783080" cy="777240"/>
          </a:xfrm>
          <a:prstGeom prst="rect">
            <a:avLst/>
          </a:prstGeom>
          <a:noFill/>
        </p:spPr>
        <p:txBody>
          <a:bodyPr wrap="square" anchor="t"/>
          <a:lstStyle/>
          <a:p>
            <a:pPr algn="ctr">
              <a:lnSpc>
                <a:spcPct val="100000"/>
              </a:lnSpc>
              <a:spcBef>
                <a:spcPts val="0"/>
              </a:spcBef>
              <a:spcAft>
                <a:spcPts val="200"/>
              </a:spcAft>
              <a:defRPr sz="1200" b="1" i="0">
                <a:solidFill>
                  <a:srgbClr val="6D28D9"/>
                </a:solidFill>
                <a:latin typeface="Calibri"/>
              </a:defRPr>
            </a:pPr>
            <a:r>
              <a:t>COMPLAINT</a:t>
            </a:r>
          </a:p>
          <a:p>
            <a:pPr algn="ctr">
              <a:lnSpc>
                <a:spcPct val="100000"/>
              </a:lnSpc>
              <a:spcBef>
                <a:spcPts val="0"/>
              </a:spcBef>
              <a:spcAft>
                <a:spcPts val="200"/>
              </a:spcAft>
              <a:defRPr sz="1100" b="0" i="0">
                <a:solidFill>
                  <a:srgbClr val="1A2332"/>
                </a:solidFill>
                <a:latin typeface="Calibri"/>
              </a:defRPr>
            </a:pPr>
            <a:r>
              <a:t>Listen patiently;</a:t>
            </a:r>
            <a:br/>
            <a:r>
              <a:t>show empathy</a:t>
            </a:r>
          </a:p>
        </p:txBody>
      </p:sp>
      <p:sp>
        <p:nvSpPr>
          <p:cNvPr id="15" name="Chevron 14"/>
          <p:cNvSpPr/>
          <p:nvPr/>
        </p:nvSpPr>
        <p:spPr>
          <a:xfrm>
            <a:off x="2770632" y="3154680"/>
            <a:ext cx="2212848" cy="914400"/>
          </a:xfrm>
          <a:prstGeom prst="chevron">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3218688"/>
            <a:ext cx="1783080" cy="777240"/>
          </a:xfrm>
          <a:prstGeom prst="rect">
            <a:avLst/>
          </a:prstGeom>
          <a:noFill/>
        </p:spPr>
        <p:txBody>
          <a:bodyPr wrap="square" anchor="t"/>
          <a:lstStyle/>
          <a:p>
            <a:pPr algn="ctr">
              <a:lnSpc>
                <a:spcPct val="100000"/>
              </a:lnSpc>
              <a:spcBef>
                <a:spcPts val="0"/>
              </a:spcBef>
              <a:spcAft>
                <a:spcPts val="200"/>
              </a:spcAft>
              <a:defRPr sz="1200" b="1" i="0">
                <a:solidFill>
                  <a:srgbClr val="6D28D9"/>
                </a:solidFill>
                <a:latin typeface="Calibri"/>
              </a:defRPr>
            </a:pPr>
            <a:r>
              <a:t>CLARIFY</a:t>
            </a:r>
          </a:p>
          <a:p>
            <a:pPr algn="ctr">
              <a:lnSpc>
                <a:spcPct val="100000"/>
              </a:lnSpc>
              <a:spcBef>
                <a:spcPts val="0"/>
              </a:spcBef>
              <a:spcAft>
                <a:spcPts val="200"/>
              </a:spcAft>
              <a:defRPr sz="1100" b="0" i="1">
                <a:solidFill>
                  <a:srgbClr val="6D28D9"/>
                </a:solidFill>
                <a:latin typeface="Calibri"/>
              </a:defRPr>
            </a:pPr>
            <a:r>
              <a:t>“Which one hurts</a:t>
            </a:r>
            <a:br/>
            <a:r>
              <a:t>most right now?”</a:t>
            </a:r>
          </a:p>
        </p:txBody>
      </p:sp>
      <p:sp>
        <p:nvSpPr>
          <p:cNvPr id="17" name="Chevron 16"/>
          <p:cNvSpPr/>
          <p:nvPr/>
        </p:nvSpPr>
        <p:spPr>
          <a:xfrm>
            <a:off x="4992624" y="3154680"/>
            <a:ext cx="2212848" cy="914400"/>
          </a:xfrm>
          <a:prstGeom prst="chevron">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21224" y="3218688"/>
            <a:ext cx="1783080" cy="777240"/>
          </a:xfrm>
          <a:prstGeom prst="rect">
            <a:avLst/>
          </a:prstGeom>
          <a:noFill/>
        </p:spPr>
        <p:txBody>
          <a:bodyPr wrap="square" anchor="t"/>
          <a:lstStyle/>
          <a:p>
            <a:pPr algn="ctr">
              <a:lnSpc>
                <a:spcPct val="100000"/>
              </a:lnSpc>
              <a:spcBef>
                <a:spcPts val="0"/>
              </a:spcBef>
              <a:spcAft>
                <a:spcPts val="200"/>
              </a:spcAft>
              <a:defRPr sz="1200" b="1" i="0">
                <a:solidFill>
                  <a:srgbClr val="FFFFFF"/>
                </a:solidFill>
                <a:latin typeface="Calibri"/>
              </a:defRPr>
            </a:pPr>
            <a:r>
              <a:t>ROOT CAUSE</a:t>
            </a:r>
          </a:p>
          <a:p>
            <a:pPr algn="ctr">
              <a:lnSpc>
                <a:spcPct val="100000"/>
              </a:lnSpc>
              <a:spcBef>
                <a:spcPts val="0"/>
              </a:spcBef>
              <a:spcAft>
                <a:spcPts val="200"/>
              </a:spcAft>
              <a:defRPr sz="1100" b="0" i="0">
                <a:solidFill>
                  <a:srgbClr val="FFFFFF"/>
                </a:solidFill>
                <a:latin typeface="Calibri"/>
              </a:defRPr>
            </a:pPr>
            <a:r>
              <a:t>Symptoms vs.</a:t>
            </a:r>
            <a:br/>
            <a:r>
              <a:t>causes</a:t>
            </a:r>
          </a:p>
        </p:txBody>
      </p:sp>
      <p:sp>
        <p:nvSpPr>
          <p:cNvPr id="19" name="Chevron 18"/>
          <p:cNvSpPr/>
          <p:nvPr/>
        </p:nvSpPr>
        <p:spPr>
          <a:xfrm>
            <a:off x="7214616" y="3154680"/>
            <a:ext cx="2212848" cy="914400"/>
          </a:xfrm>
          <a:prstGeom prst="chevron">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43216" y="3218688"/>
            <a:ext cx="1783080" cy="777240"/>
          </a:xfrm>
          <a:prstGeom prst="rect">
            <a:avLst/>
          </a:prstGeom>
          <a:noFill/>
        </p:spPr>
        <p:txBody>
          <a:bodyPr wrap="square" anchor="t"/>
          <a:lstStyle/>
          <a:p>
            <a:pPr algn="ctr">
              <a:lnSpc>
                <a:spcPct val="100000"/>
              </a:lnSpc>
              <a:spcBef>
                <a:spcPts val="0"/>
              </a:spcBef>
              <a:spcAft>
                <a:spcPts val="200"/>
              </a:spcAft>
              <a:defRPr sz="1200" b="1" i="0">
                <a:solidFill>
                  <a:srgbClr val="FFFFFF"/>
                </a:solidFill>
                <a:latin typeface="Calibri"/>
              </a:defRPr>
            </a:pPr>
            <a:r>
              <a:t>ACTION</a:t>
            </a:r>
          </a:p>
          <a:p>
            <a:pPr algn="ctr">
              <a:lnSpc>
                <a:spcPct val="100000"/>
              </a:lnSpc>
              <a:spcBef>
                <a:spcPts val="0"/>
              </a:spcBef>
              <a:spcAft>
                <a:spcPts val="200"/>
              </a:spcAft>
              <a:defRPr sz="1100" b="0" i="0">
                <a:solidFill>
                  <a:srgbClr val="FFFFFF"/>
                </a:solidFill>
                <a:latin typeface="Calibri"/>
              </a:defRPr>
            </a:pPr>
            <a:r>
              <a:t>Actionable items;</a:t>
            </a:r>
            <a:br/>
            <a:r>
              <a:t>agree the fix</a:t>
            </a:r>
          </a:p>
        </p:txBody>
      </p:sp>
      <p:sp>
        <p:nvSpPr>
          <p:cNvPr id="21" name="Chevron 20"/>
          <p:cNvSpPr/>
          <p:nvPr/>
        </p:nvSpPr>
        <p:spPr>
          <a:xfrm>
            <a:off x="9436608" y="3154680"/>
            <a:ext cx="2212848" cy="914400"/>
          </a:xfrm>
          <a:prstGeom prst="chevron">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65208" y="3218688"/>
            <a:ext cx="1783080" cy="777240"/>
          </a:xfrm>
          <a:prstGeom prst="rect">
            <a:avLst/>
          </a:prstGeom>
          <a:noFill/>
        </p:spPr>
        <p:txBody>
          <a:bodyPr wrap="square" anchor="t"/>
          <a:lstStyle/>
          <a:p>
            <a:pPr algn="ctr">
              <a:lnSpc>
                <a:spcPct val="100000"/>
              </a:lnSpc>
              <a:spcBef>
                <a:spcPts val="0"/>
              </a:spcBef>
              <a:spcAft>
                <a:spcPts val="200"/>
              </a:spcAft>
              <a:defRPr sz="1200" b="1" i="0">
                <a:solidFill>
                  <a:srgbClr val="6D28D9"/>
                </a:solidFill>
                <a:latin typeface="Calibri"/>
              </a:defRPr>
            </a:pPr>
            <a:r>
              <a:t>FOLLOW-UP</a:t>
            </a:r>
          </a:p>
          <a:p>
            <a:pPr algn="ctr">
              <a:lnSpc>
                <a:spcPct val="100000"/>
              </a:lnSpc>
              <a:spcBef>
                <a:spcPts val="0"/>
              </a:spcBef>
              <a:spcAft>
                <a:spcPts val="200"/>
              </a:spcAft>
              <a:defRPr sz="1100" b="0" i="0">
                <a:solidFill>
                  <a:srgbClr val="1A2332"/>
                </a:solidFill>
                <a:latin typeface="Calibri"/>
              </a:defRPr>
            </a:pPr>
            <a:r>
              <a:t>Check back;</a:t>
            </a:r>
            <a:br/>
            <a:r>
              <a:t>close the loop</a:t>
            </a:r>
          </a:p>
        </p:txBody>
      </p:sp>
      <p:sp>
        <p:nvSpPr>
          <p:cNvPr id="23" name="TextBox 22"/>
          <p:cNvSpPr txBox="1"/>
          <p:nvPr/>
        </p:nvSpPr>
        <p:spPr>
          <a:xfrm>
            <a:off x="548640" y="4224528"/>
            <a:ext cx="11091672" cy="365760"/>
          </a:xfrm>
          <a:prstGeom prst="rect">
            <a:avLst/>
          </a:prstGeom>
          <a:noFill/>
        </p:spPr>
        <p:txBody>
          <a:bodyPr wrap="square" anchor="t"/>
          <a:lstStyle/>
          <a:p>
            <a:pPr algn="ctr">
              <a:lnSpc>
                <a:spcPct val="100000"/>
              </a:lnSpc>
              <a:spcBef>
                <a:spcPts val="0"/>
              </a:spcBef>
              <a:spcAft>
                <a:spcPts val="200"/>
              </a:spcAft>
              <a:defRPr sz="1100" b="1" i="0">
                <a:solidFill>
                  <a:srgbClr val="6D28D9"/>
                </a:solidFill>
                <a:latin typeface="Calibri"/>
              </a:defRPr>
            </a:pPr>
            <a:r>
              <a:t>Run it in order — never jump from complaint straight to action.</a:t>
            </a:r>
          </a:p>
        </p:txBody>
      </p:sp>
      <p:sp>
        <p:nvSpPr>
          <p:cNvPr id="24" name="Rounded Rectangle 23"/>
          <p:cNvSpPr/>
          <p:nvPr/>
        </p:nvSpPr>
        <p:spPr>
          <a:xfrm>
            <a:off x="548640" y="4645152"/>
            <a:ext cx="11091672"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4645152"/>
            <a:ext cx="128016" cy="1463040"/>
          </a:xfrm>
          <a:prstGeom prst="roundRect">
            <a:avLst>
              <a:gd name="adj" fmla="val 5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7" y="4736592"/>
            <a:ext cx="10634472" cy="1280160"/>
          </a:xfrm>
          <a:prstGeom prst="rect">
            <a:avLst/>
          </a:prstGeom>
          <a:noFill/>
        </p:spPr>
        <p:txBody>
          <a:bodyPr wrap="square" anchor="t"/>
          <a:lstStyle/>
          <a:p>
            <a:pPr algn="l">
              <a:lnSpc>
                <a:spcPct val="100000"/>
              </a:lnSpc>
              <a:spcBef>
                <a:spcPts val="0"/>
              </a:spcBef>
              <a:spcAft>
                <a:spcPts val="200"/>
              </a:spcAft>
              <a:defRPr sz="1000" b="1" i="0">
                <a:solidFill>
                  <a:srgbClr val="6D28D9"/>
                </a:solidFill>
                <a:latin typeface="Calibri"/>
              </a:defRPr>
            </a:pPr>
            <a:r>
              <a:t>HOW THE FLOW SOUNDS</a:t>
            </a:r>
          </a:p>
          <a:p>
            <a:pPr algn="l">
              <a:lnSpc>
                <a:spcPct val="100000"/>
              </a:lnSpc>
              <a:spcBef>
                <a:spcPts val="200"/>
              </a:spcBef>
              <a:spcAft>
                <a:spcPts val="200"/>
              </a:spcAft>
              <a:defRPr sz="1200" b="0" i="1">
                <a:solidFill>
                  <a:srgbClr val="1A2332"/>
                </a:solidFill>
                <a:latin typeface="Calibri"/>
              </a:defRPr>
            </a:pPr>
            <a:r>
              <a:t>Complaint: “everything is off.”  →  Clarify: “help me rank these — which one hurts most?”  →  Root cause: separate the trigger from the symptom  →  Action: one agreed fix with a date  →  Follow-up: “confirming this is resolved — anything still open?”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20040"/>
            <a:ext cx="10972800" cy="320040"/>
          </a:xfrm>
          <a:prstGeom prst="rect">
            <a:avLst/>
          </a:prstGeom>
          <a:noFill/>
        </p:spPr>
        <p:txBody>
          <a:bodyPr wrap="square" anchor="t"/>
          <a:lstStyle/>
          <a:p>
            <a:pPr algn="l">
              <a:lnSpc>
                <a:spcPct val="100000"/>
              </a:lnSpc>
              <a:spcBef>
                <a:spcPts val="0"/>
              </a:spcBef>
              <a:spcAft>
                <a:spcPts val="200"/>
              </a:spcAft>
              <a:defRPr sz="1200" b="1" i="0">
                <a:solidFill>
                  <a:srgbClr val="0E7490"/>
                </a:solidFill>
                <a:latin typeface="Calibri"/>
              </a:defRPr>
            </a:pPr>
            <a:r>
              <a:t>05 · ARROGANT CLIENT  ·  DRIVER: STATUS</a:t>
            </a:r>
          </a:p>
        </p:txBody>
      </p:sp>
      <p:sp>
        <p:nvSpPr>
          <p:cNvPr id="3" name="TextBox 2"/>
          <p:cNvSpPr txBox="1"/>
          <p:nvPr/>
        </p:nvSpPr>
        <p:spPr>
          <a:xfrm>
            <a:off x="548640" y="621792"/>
            <a:ext cx="7772400" cy="914400"/>
          </a:xfrm>
          <a:prstGeom prst="rect">
            <a:avLst/>
          </a:prstGeom>
          <a:noFill/>
        </p:spPr>
        <p:txBody>
          <a:bodyPr wrap="square" anchor="t"/>
          <a:lstStyle/>
          <a:p>
            <a:pPr algn="l">
              <a:lnSpc>
                <a:spcPct val="100000"/>
              </a:lnSpc>
              <a:spcBef>
                <a:spcPts val="0"/>
              </a:spcBef>
              <a:spcAft>
                <a:spcPts val="200"/>
              </a:spcAft>
              <a:defRPr sz="3000" b="1" i="0">
                <a:solidFill>
                  <a:srgbClr val="1A2332"/>
                </a:solidFill>
                <a:latin typeface="Cambria"/>
              </a:defRPr>
            </a:pPr>
            <a:r>
              <a:t>Win the argument with evidence.</a:t>
            </a:r>
          </a:p>
        </p:txBody>
      </p:sp>
      <p:sp>
        <p:nvSpPr>
          <p:cNvPr id="4" name="Oval 3"/>
          <p:cNvSpPr/>
          <p:nvPr/>
        </p:nvSpPr>
        <p:spPr>
          <a:xfrm>
            <a:off x="10515600" y="457200"/>
            <a:ext cx="914400" cy="914400"/>
          </a:xfrm>
          <a:prstGeom prst="ellipse">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rown.png"/>
          <p:cNvPicPr>
            <a:picLocks noChangeAspect="1"/>
          </p:cNvPicPr>
          <p:nvPr/>
        </p:nvPicPr>
        <p:blipFill>
          <a:blip r:embed="rId2"/>
          <a:stretch>
            <a:fillRect/>
          </a:stretch>
        </p:blipFill>
        <p:spPr>
          <a:xfrm>
            <a:off x="10698480" y="640080"/>
            <a:ext cx="548640" cy="548640"/>
          </a:xfrm>
          <a:prstGeom prst="rect">
            <a:avLst/>
          </a:prstGeom>
        </p:spPr>
      </p:pic>
      <p:sp>
        <p:nvSpPr>
          <p:cNvPr id="6" name="TextBox 5"/>
          <p:cNvSpPr txBox="1"/>
          <p:nvPr/>
        </p:nvSpPr>
        <p:spPr>
          <a:xfrm>
            <a:off x="548640" y="1298448"/>
            <a:ext cx="10058400" cy="320040"/>
          </a:xfrm>
          <a:prstGeom prst="rect">
            <a:avLst/>
          </a:prstGeom>
          <a:noFill/>
        </p:spPr>
        <p:txBody>
          <a:bodyPr wrap="square" anchor="t"/>
          <a:lstStyle/>
          <a:p>
            <a:pPr algn="l">
              <a:lnSpc>
                <a:spcPct val="100000"/>
              </a:lnSpc>
              <a:spcBef>
                <a:spcPts val="0"/>
              </a:spcBef>
              <a:spcAft>
                <a:spcPts val="200"/>
              </a:spcAft>
              <a:defRPr sz="1300" b="0" i="0">
                <a:solidFill>
                  <a:srgbClr val="3D475C"/>
                </a:solidFill>
                <a:latin typeface="Calibri"/>
              </a:defRPr>
            </a:pPr>
            <a:r>
              <a:t>Don’t wrestle the ego — out-argue it with facts tied to their business goal.</a:t>
            </a:r>
          </a:p>
        </p:txBody>
      </p:sp>
      <p:sp>
        <p:nvSpPr>
          <p:cNvPr id="7" name="Rounded Rectangle 6"/>
          <p:cNvSpPr/>
          <p:nvPr/>
        </p:nvSpPr>
        <p:spPr>
          <a:xfrm>
            <a:off x="548640" y="1874519"/>
            <a:ext cx="3749039" cy="3063240"/>
          </a:xfrm>
          <a:prstGeom prst="roundRect">
            <a:avLst>
              <a:gd name="adj" fmla="val 5000"/>
            </a:avLst>
          </a:prstGeom>
          <a:solidFill>
            <a:srgbClr val="FFFFFF"/>
          </a:solidFill>
          <a:ln w="12700">
            <a:solidFill>
              <a:srgbClr val="DDD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93392"/>
            <a:ext cx="3291840" cy="320040"/>
          </a:xfrm>
          <a:prstGeom prst="rect">
            <a:avLst/>
          </a:prstGeom>
          <a:noFill/>
        </p:spPr>
        <p:txBody>
          <a:bodyPr wrap="square" anchor="t"/>
          <a:lstStyle/>
          <a:p>
            <a:pPr algn="l">
              <a:lnSpc>
                <a:spcPct val="100000"/>
              </a:lnSpc>
              <a:spcBef>
                <a:spcPts val="0"/>
              </a:spcBef>
              <a:spcAft>
                <a:spcPts val="200"/>
              </a:spcAft>
              <a:defRPr sz="1100" b="1" i="0">
                <a:solidFill>
                  <a:srgbClr val="0E7490"/>
                </a:solidFill>
                <a:latin typeface="Calibri"/>
              </a:defRPr>
            </a:pPr>
            <a:r>
              <a:t>SPOT IT</a:t>
            </a:r>
          </a:p>
        </p:txBody>
      </p:sp>
      <p:sp>
        <p:nvSpPr>
          <p:cNvPr id="9" name="TextBox 8"/>
          <p:cNvSpPr txBox="1"/>
          <p:nvPr/>
        </p:nvSpPr>
        <p:spPr>
          <a:xfrm>
            <a:off x="777240" y="2331720"/>
            <a:ext cx="3291840" cy="2468880"/>
          </a:xfrm>
          <a:prstGeom prst="rect">
            <a:avLst/>
          </a:prstGeom>
          <a:noFill/>
        </p:spPr>
        <p:txBody>
          <a:bodyPr wrap="square" anchor="t"/>
          <a:lstStyle/>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Acts as if they know everything</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Dismisses professional advice</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Expects special treatment, exceptions</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Challenges expertise; dominates talk</a:t>
            </a:r>
          </a:p>
        </p:txBody>
      </p:sp>
      <p:sp>
        <p:nvSpPr>
          <p:cNvPr id="10" name="Rounded Rectangle 9"/>
          <p:cNvSpPr/>
          <p:nvPr/>
        </p:nvSpPr>
        <p:spPr>
          <a:xfrm>
            <a:off x="4507992" y="1874519"/>
            <a:ext cx="3383280" cy="3063240"/>
          </a:xfrm>
          <a:prstGeom prst="roundRect">
            <a:avLst>
              <a:gd name="adj" fmla="val 5000"/>
            </a:avLst>
          </a:prstGeom>
          <a:solidFill>
            <a:srgbClr val="CF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36592" y="1993392"/>
            <a:ext cx="2926080" cy="320040"/>
          </a:xfrm>
          <a:prstGeom prst="rect">
            <a:avLst/>
          </a:prstGeom>
          <a:noFill/>
        </p:spPr>
        <p:txBody>
          <a:bodyPr wrap="square" anchor="t"/>
          <a:lstStyle/>
          <a:p>
            <a:pPr algn="l">
              <a:lnSpc>
                <a:spcPct val="100000"/>
              </a:lnSpc>
              <a:spcBef>
                <a:spcPts val="0"/>
              </a:spcBef>
              <a:spcAft>
                <a:spcPts val="200"/>
              </a:spcAft>
              <a:defRPr sz="1100" b="1" i="0">
                <a:solidFill>
                  <a:srgbClr val="0E7490"/>
                </a:solidFill>
                <a:latin typeface="Calibri"/>
              </a:defRPr>
            </a:pPr>
            <a:r>
              <a:t>LEVERAGE</a:t>
            </a:r>
          </a:p>
        </p:txBody>
      </p:sp>
      <p:sp>
        <p:nvSpPr>
          <p:cNvPr id="12" name="TextBox 11"/>
          <p:cNvSpPr txBox="1"/>
          <p:nvPr/>
        </p:nvSpPr>
        <p:spPr>
          <a:xfrm>
            <a:off x="4736592" y="2331720"/>
            <a:ext cx="2926080" cy="2468880"/>
          </a:xfrm>
          <a:prstGeom prst="rect">
            <a:avLst/>
          </a:prstGeom>
          <a:noFill/>
        </p:spPr>
        <p:txBody>
          <a:bodyPr wrap="square" anchor="t"/>
          <a:lstStyle/>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Facts + evidence over opinions</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Explain trade-offs clearly</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Acknowledge useful input</a:t>
            </a:r>
          </a:p>
          <a:p>
            <a:pPr algn="l">
              <a:lnSpc>
                <a:spcPct val="100000"/>
              </a:lnSpc>
              <a:spcBef>
                <a:spcPts val="0"/>
              </a:spcBef>
              <a:spcAft>
                <a:spcPts val="700"/>
              </a:spcAft>
              <a:defRPr sz="1200" b="0" i="0">
                <a:solidFill>
                  <a:srgbClr val="1A2332"/>
                </a:solidFill>
                <a:latin typeface="Calibri"/>
              </a:defRPr>
            </a:pPr>
            <a:r>
              <a:rPr sz="1200">
                <a:solidFill>
                  <a:srgbClr val="0E7490"/>
                </a:solidFill>
                <a:latin typeface="Calibri"/>
              </a:rPr>
              <a:t>•  </a:t>
            </a:r>
            <a:r>
              <a:rPr sz="1200">
                <a:solidFill>
                  <a:srgbClr val="1A2332"/>
                </a:solidFill>
                <a:latin typeface="Calibri"/>
              </a:rPr>
              <a:t>Aim everything at business outcome</a:t>
            </a:r>
          </a:p>
        </p:txBody>
      </p:sp>
      <p:sp>
        <p:nvSpPr>
          <p:cNvPr id="13" name="Rounded Rectangle 12"/>
          <p:cNvSpPr/>
          <p:nvPr/>
        </p:nvSpPr>
        <p:spPr>
          <a:xfrm>
            <a:off x="8101583" y="1874519"/>
            <a:ext cx="3538728" cy="3063240"/>
          </a:xfrm>
          <a:prstGeom prst="roundRect">
            <a:avLst>
              <a:gd name="adj" fmla="val 5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3" y="1993392"/>
            <a:ext cx="3108960" cy="320040"/>
          </a:xfrm>
          <a:prstGeom prst="rect">
            <a:avLst/>
          </a:prstGeom>
          <a:noFill/>
        </p:spPr>
        <p:txBody>
          <a:bodyPr wrap="square" anchor="t"/>
          <a:lstStyle/>
          <a:p>
            <a:pPr algn="l">
              <a:lnSpc>
                <a:spcPct val="100000"/>
              </a:lnSpc>
              <a:spcBef>
                <a:spcPts val="0"/>
              </a:spcBef>
              <a:spcAft>
                <a:spcPts val="200"/>
              </a:spcAft>
              <a:defRPr sz="1100" b="1" i="0">
                <a:solidFill>
                  <a:srgbClr val="FFFFFF"/>
                </a:solidFill>
                <a:latin typeface="Calibri"/>
              </a:defRPr>
            </a:pPr>
            <a:r>
              <a:t>GUARDRAILS</a:t>
            </a:r>
          </a:p>
        </p:txBody>
      </p:sp>
      <p:sp>
        <p:nvSpPr>
          <p:cNvPr id="15" name="TextBox 14"/>
          <p:cNvSpPr txBox="1"/>
          <p:nvPr/>
        </p:nvSpPr>
        <p:spPr>
          <a:xfrm>
            <a:off x="8330183" y="2331720"/>
            <a:ext cx="3108960" cy="2468880"/>
          </a:xfrm>
          <a:prstGeom prst="rect">
            <a:avLst/>
          </a:prstGeom>
          <a:noFill/>
        </p:spPr>
        <p:txBody>
          <a:bodyPr wrap="square" anchor="t"/>
          <a:lstStyle/>
          <a:p>
            <a:pPr algn="l">
              <a:lnSpc>
                <a:spcPct val="100000"/>
              </a:lnSpc>
              <a:spcBef>
                <a:spcPts val="0"/>
              </a:spcBef>
              <a:spcAft>
                <a:spcPts val="700"/>
              </a:spcAft>
              <a:defRPr sz="1200" b="0" i="0">
                <a:solidFill>
                  <a:srgbClr val="FFFFFF"/>
                </a:solidFill>
                <a:latin typeface="Calibri"/>
              </a:defRPr>
            </a:pPr>
            <a:r>
              <a:rPr sz="1200">
                <a:solidFill>
                  <a:srgbClr val="FFFFFF"/>
                </a:solidFill>
                <a:latin typeface="Calibri"/>
              </a:rPr>
              <a:t>•  </a:t>
            </a:r>
            <a:r>
              <a:rPr sz="1200">
                <a:solidFill>
                  <a:srgbClr val="FFFFFF"/>
                </a:solidFill>
                <a:latin typeface="Calibri"/>
              </a:rPr>
              <a:t>Stay professional, always</a:t>
            </a:r>
          </a:p>
          <a:p>
            <a:pPr algn="l">
              <a:lnSpc>
                <a:spcPct val="100000"/>
              </a:lnSpc>
              <a:spcBef>
                <a:spcPts val="0"/>
              </a:spcBef>
              <a:spcAft>
                <a:spcPts val="700"/>
              </a:spcAft>
              <a:defRPr sz="1200" b="0" i="0">
                <a:solidFill>
                  <a:srgbClr val="FFFFFF"/>
                </a:solidFill>
                <a:latin typeface="Calibri"/>
              </a:defRPr>
            </a:pPr>
            <a:r>
              <a:rPr sz="1200">
                <a:solidFill>
                  <a:srgbClr val="FFFFFF"/>
                </a:solidFill>
                <a:latin typeface="Calibri"/>
              </a:rPr>
              <a:t>•  </a:t>
            </a:r>
            <a:r>
              <a:rPr sz="1200">
                <a:solidFill>
                  <a:srgbClr val="FFFFFF"/>
                </a:solidFill>
                <a:latin typeface="Calibri"/>
              </a:rPr>
              <a:t>Don’t compete with the ego</a:t>
            </a:r>
          </a:p>
          <a:p>
            <a:pPr algn="l">
              <a:lnSpc>
                <a:spcPct val="100000"/>
              </a:lnSpc>
              <a:spcBef>
                <a:spcPts val="0"/>
              </a:spcBef>
              <a:spcAft>
                <a:spcPts val="700"/>
              </a:spcAft>
              <a:defRPr sz="1200" b="0" i="0">
                <a:solidFill>
                  <a:srgbClr val="FFFFFF"/>
                </a:solidFill>
                <a:latin typeface="Calibri"/>
              </a:defRPr>
            </a:pPr>
            <a:r>
              <a:rPr sz="1200">
                <a:solidFill>
                  <a:srgbClr val="FFFFFF"/>
                </a:solidFill>
                <a:latin typeface="Calibri"/>
              </a:rPr>
              <a:t>•  </a:t>
            </a:r>
            <a:r>
              <a:rPr sz="1200">
                <a:solidFill>
                  <a:srgbClr val="FFFFFF"/>
                </a:solidFill>
                <a:latin typeface="Calibri"/>
              </a:rPr>
              <a:t>Hold boundaries on scope</a:t>
            </a:r>
          </a:p>
          <a:p>
            <a:pPr algn="l">
              <a:lnSpc>
                <a:spcPct val="100000"/>
              </a:lnSpc>
              <a:spcBef>
                <a:spcPts val="0"/>
              </a:spcBef>
              <a:spcAft>
                <a:spcPts val="700"/>
              </a:spcAft>
              <a:defRPr sz="1200" b="0" i="0">
                <a:solidFill>
                  <a:srgbClr val="FFFFFF"/>
                </a:solidFill>
                <a:latin typeface="Calibri"/>
              </a:defRPr>
            </a:pPr>
            <a:r>
              <a:rPr sz="1200">
                <a:solidFill>
                  <a:srgbClr val="FFFFFF"/>
                </a:solidFill>
                <a:latin typeface="Calibri"/>
              </a:rPr>
              <a:t>•  </a:t>
            </a:r>
            <a:r>
              <a:rPr sz="1200">
                <a:solidFill>
                  <a:srgbClr val="FFFFFF"/>
                </a:solidFill>
                <a:latin typeface="Calibri"/>
              </a:rPr>
              <a:t>Confident — never confrontational</a:t>
            </a:r>
          </a:p>
        </p:txBody>
      </p:sp>
      <p:sp>
        <p:nvSpPr>
          <p:cNvPr id="16" name="Rounded Rectangle 15"/>
          <p:cNvSpPr/>
          <p:nvPr/>
        </p:nvSpPr>
        <p:spPr>
          <a:xfrm>
            <a:off x="548640" y="5138928"/>
            <a:ext cx="11091672"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5138928"/>
            <a:ext cx="128016" cy="1051560"/>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230368"/>
            <a:ext cx="10634472" cy="868680"/>
          </a:xfrm>
          <a:prstGeom prst="rect">
            <a:avLst/>
          </a:prstGeom>
          <a:noFill/>
        </p:spPr>
        <p:txBody>
          <a:bodyPr wrap="square" anchor="t"/>
          <a:lstStyle/>
          <a:p>
            <a:pPr algn="l">
              <a:lnSpc>
                <a:spcPct val="100000"/>
              </a:lnSpc>
              <a:spcBef>
                <a:spcPts val="0"/>
              </a:spcBef>
              <a:spcAft>
                <a:spcPts val="200"/>
              </a:spcAft>
              <a:defRPr sz="1000" b="1" i="0">
                <a:solidFill>
                  <a:srgbClr val="0E7490"/>
                </a:solidFill>
                <a:latin typeface="Calibri"/>
              </a:defRPr>
            </a:pPr>
            <a:r>
              <a:t>SAY IT LIKE THIS</a:t>
            </a:r>
          </a:p>
          <a:p>
            <a:pPr algn="l">
              <a:lnSpc>
                <a:spcPct val="100000"/>
              </a:lnSpc>
              <a:spcBef>
                <a:spcPts val="200"/>
              </a:spcBef>
              <a:spcAft>
                <a:spcPts val="200"/>
              </a:spcAft>
              <a:defRPr sz="1200" b="0" i="1">
                <a:solidFill>
                  <a:srgbClr val="1A2332"/>
                </a:solidFill>
                <a:latin typeface="Calibri"/>
              </a:defRPr>
            </a:pPr>
            <a:r>
              <a:t>“Your instinct is noted — the data shows option A converts ~20% better with half the risk. I recommend A; the decision is yours.”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D"/>
        </a:solidFill>
        <a:effectLst/>
      </p:bgPr>
    </p:bg>
    <p:spTree>
      <p:nvGrpSpPr>
        <p:cNvPr id="1" name=""/>
        <p:cNvGrpSpPr/>
        <p:nvPr/>
      </p:nvGrpSpPr>
      <p:grpSpPr/>
      <p:sp>
        <p:nvSpPr>
          <p:cNvPr id="2" name="TextBox 1"/>
          <p:cNvSpPr txBox="1"/>
          <p:nvPr/>
        </p:nvSpPr>
        <p:spPr>
          <a:xfrm>
            <a:off x="548640" y="365760"/>
            <a:ext cx="10972800" cy="320040"/>
          </a:xfrm>
          <a:prstGeom prst="rect">
            <a:avLst/>
          </a:prstGeom>
          <a:noFill/>
        </p:spPr>
        <p:txBody>
          <a:bodyPr wrap="square"/>
          <a:lstStyle/>
          <a:p>
            <a:pPr algn="l">
              <a:lnSpc>
                <a:spcPct val="100000"/>
              </a:lnSpc>
              <a:spcBef>
                <a:spcPts val="0"/>
              </a:spcBef>
              <a:spcAft>
                <a:spcPts val="200"/>
              </a:spcAft>
              <a:defRPr sz="1200" b="1" i="0">
                <a:solidFill>
                  <a:srgbClr val="0B5B55"/>
                </a:solidFill>
                <a:latin typeface="Calibri"/>
              </a:defRPr>
            </a:pPr>
            <a:r>
              <a:t>CLOSING · THE FREELANCER’S COMPOSURE</a:t>
            </a:r>
          </a:p>
        </p:txBody>
      </p:sp>
      <p:sp>
        <p:nvSpPr>
          <p:cNvPr id="3" name="TextBox 2"/>
          <p:cNvSpPr txBox="1"/>
          <p:nvPr/>
        </p:nvSpPr>
        <p:spPr>
          <a:xfrm>
            <a:off x="548640" y="914400"/>
            <a:ext cx="6400800" cy="1554480"/>
          </a:xfrm>
          <a:prstGeom prst="rect">
            <a:avLst/>
          </a:prstGeom>
          <a:noFill/>
        </p:spPr>
        <p:txBody>
          <a:bodyPr wrap="square"/>
          <a:lstStyle/>
          <a:p>
            <a:pPr algn="l">
              <a:lnSpc>
                <a:spcPct val="100000"/>
              </a:lnSpc>
              <a:spcBef>
                <a:spcPts val="0"/>
              </a:spcBef>
              <a:spcAft>
                <a:spcPts val="200"/>
              </a:spcAft>
              <a:defRPr sz="2800" b="1" i="0">
                <a:solidFill>
                  <a:srgbClr val="1A2332"/>
                </a:solidFill>
                <a:latin typeface="Cambria"/>
              </a:defRPr>
            </a:pPr>
            <a:r>
              <a:t>“Stay calm, professional, and solution-focused with every type of client.”</a:t>
            </a:r>
          </a:p>
        </p:txBody>
      </p:sp>
      <p:sp>
        <p:nvSpPr>
          <p:cNvPr id="4" name="TextBox 3"/>
          <p:cNvSpPr txBox="1"/>
          <p:nvPr/>
        </p:nvSpPr>
        <p:spPr>
          <a:xfrm>
            <a:off x="548640" y="2697480"/>
            <a:ext cx="6400800" cy="1005840"/>
          </a:xfrm>
          <a:prstGeom prst="rect">
            <a:avLst/>
          </a:prstGeom>
          <a:noFill/>
        </p:spPr>
        <p:txBody>
          <a:bodyPr wrap="square"/>
          <a:lstStyle/>
          <a:p>
            <a:pPr algn="l">
              <a:lnSpc>
                <a:spcPct val="100000"/>
              </a:lnSpc>
              <a:spcBef>
                <a:spcPts val="0"/>
              </a:spcBef>
              <a:spcAft>
                <a:spcPts val="200"/>
              </a:spcAft>
              <a:defRPr sz="2000" b="0" i="1">
                <a:solidFill>
                  <a:srgbClr val="0B5B55"/>
                </a:solidFill>
                <a:latin typeface="Calibri"/>
              </a:defRPr>
            </a:pPr>
            <a:r>
              <a:t>You can’t control the client’s temperature —</a:t>
            </a:r>
          </a:p>
          <a:p>
            <a:pPr algn="l">
              <a:lnSpc>
                <a:spcPct val="100000"/>
              </a:lnSpc>
              <a:spcBef>
                <a:spcPts val="0"/>
              </a:spcBef>
              <a:spcAft>
                <a:spcPts val="200"/>
              </a:spcAft>
              <a:defRPr sz="2000" b="0" i="1">
                <a:solidFill>
                  <a:srgbClr val="0B5B55"/>
                </a:solidFill>
                <a:latin typeface="Calibri"/>
              </a:defRPr>
            </a:pPr>
            <a:r>
              <a:t>but you always control your own.</a:t>
            </a:r>
          </a:p>
        </p:txBody>
      </p:sp>
      <p:sp>
        <p:nvSpPr>
          <p:cNvPr id="5" name="TextBox 4"/>
          <p:cNvSpPr txBox="1"/>
          <p:nvPr/>
        </p:nvSpPr>
        <p:spPr>
          <a:xfrm>
            <a:off x="548640" y="3977639"/>
            <a:ext cx="6400800" cy="457200"/>
          </a:xfrm>
          <a:prstGeom prst="rect">
            <a:avLst/>
          </a:prstGeom>
          <a:noFill/>
        </p:spPr>
        <p:txBody>
          <a:bodyPr wrap="square"/>
          <a:lstStyle/>
          <a:p>
            <a:pPr algn="l">
              <a:lnSpc>
                <a:spcPct val="100000"/>
              </a:lnSpc>
              <a:spcBef>
                <a:spcPts val="0"/>
              </a:spcBef>
              <a:spcAft>
                <a:spcPts val="200"/>
              </a:spcAft>
              <a:defRPr sz="1100" b="0" i="0">
                <a:solidFill>
                  <a:srgbClr val="3D475C"/>
                </a:solidFill>
                <a:latin typeface="Calibri"/>
              </a:defRPr>
            </a:pPr>
            <a:r>
              <a:rPr sz="1100" b="1">
                <a:solidFill>
                  <a:srgbClr val="3D475C"/>
                </a:solidFill>
                <a:latin typeface="Calibri"/>
              </a:rPr>
              <a:t>01 Clarify  ·  </a:t>
            </a:r>
            <a:r>
              <a:rPr sz="1100" b="1">
                <a:solidFill>
                  <a:srgbClr val="3D475C"/>
                </a:solidFill>
                <a:latin typeface="Calibri"/>
              </a:rPr>
              <a:t>02 Empathize  ·  </a:t>
            </a:r>
            <a:r>
              <a:rPr sz="1100" b="1">
                <a:solidFill>
                  <a:srgbClr val="3D475C"/>
                </a:solidFill>
                <a:latin typeface="Calibri"/>
              </a:rPr>
              <a:t>03 Bound  ·  </a:t>
            </a:r>
            <a:r>
              <a:rPr sz="1100" b="1">
                <a:solidFill>
                  <a:srgbClr val="3D475C"/>
                </a:solidFill>
                <a:latin typeface="Calibri"/>
              </a:rPr>
              <a:t>04 Diagnose  ·  </a:t>
            </a:r>
            <a:r>
              <a:rPr sz="1100" b="1">
                <a:solidFill>
                  <a:srgbClr val="3D475C"/>
                </a:solidFill>
                <a:latin typeface="Calibri"/>
              </a:rPr>
              <a:t>05 Evidence</a:t>
            </a:r>
          </a:p>
        </p:txBody>
      </p:sp>
      <p:sp>
        <p:nvSpPr>
          <p:cNvPr id="6" name="Rounded Rectangle 5"/>
          <p:cNvSpPr/>
          <p:nvPr/>
        </p:nvSpPr>
        <p:spPr>
          <a:xfrm>
            <a:off x="548640" y="4709160"/>
            <a:ext cx="2377440" cy="56692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754880"/>
            <a:ext cx="2377440" cy="475488"/>
          </a:xfrm>
          <a:prstGeom prst="rect">
            <a:avLst/>
          </a:prstGeom>
          <a:noFill/>
        </p:spPr>
        <p:txBody>
          <a:bodyPr wrap="square"/>
          <a:lstStyle/>
          <a:p>
            <a:pPr algn="ctr">
              <a:lnSpc>
                <a:spcPct val="100000"/>
              </a:lnSpc>
              <a:spcBef>
                <a:spcPts val="0"/>
              </a:spcBef>
              <a:spcAft>
                <a:spcPts val="200"/>
              </a:spcAft>
              <a:defRPr sz="1300" b="1" i="0">
                <a:solidFill>
                  <a:srgbClr val="FFFFFF"/>
                </a:solidFill>
                <a:latin typeface="Calibri"/>
              </a:defRPr>
            </a:pPr>
            <a:r>
              <a:t>Thank you  ·  Q&amp;A</a:t>
            </a:r>
          </a:p>
        </p:txBody>
      </p:sp>
      <p:sp>
        <p:nvSpPr>
          <p:cNvPr id="8" name="TextBox 7"/>
          <p:cNvSpPr txBox="1"/>
          <p:nvPr/>
        </p:nvSpPr>
        <p:spPr>
          <a:xfrm>
            <a:off x="7589520" y="914400"/>
            <a:ext cx="4023360" cy="320040"/>
          </a:xfrm>
          <a:prstGeom prst="rect">
            <a:avLst/>
          </a:prstGeom>
          <a:noFill/>
        </p:spPr>
        <p:txBody>
          <a:bodyPr wrap="square"/>
          <a:lstStyle/>
          <a:p>
            <a:pPr algn="l">
              <a:lnSpc>
                <a:spcPct val="100000"/>
              </a:lnSpc>
              <a:spcBef>
                <a:spcPts val="0"/>
              </a:spcBef>
              <a:spcAft>
                <a:spcPts val="200"/>
              </a:spcAft>
              <a:defRPr sz="1100" b="1" i="0">
                <a:solidFill>
                  <a:srgbClr val="0B5B55"/>
                </a:solidFill>
                <a:latin typeface="Calibri"/>
              </a:defRPr>
            </a:pPr>
            <a:r>
              <a:t>THE SEQUENCE — YOUR 6 MOVES</a:t>
            </a:r>
          </a:p>
        </p:txBody>
      </p:sp>
      <p:sp>
        <p:nvSpPr>
          <p:cNvPr id="9" name="Rounded Rectangle 8"/>
          <p:cNvSpPr/>
          <p:nvPr/>
        </p:nvSpPr>
        <p:spPr>
          <a:xfrm>
            <a:off x="7589520" y="1417320"/>
            <a:ext cx="4023360" cy="56692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463040"/>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1. Listen</a:t>
            </a:r>
          </a:p>
        </p:txBody>
      </p:sp>
      <p:sp>
        <p:nvSpPr>
          <p:cNvPr id="11" name="Rounded Rectangle 10"/>
          <p:cNvSpPr/>
          <p:nvPr/>
        </p:nvSpPr>
        <p:spPr>
          <a:xfrm>
            <a:off x="7589520" y="2112264"/>
            <a:ext cx="4023360" cy="566928"/>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2157984"/>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2. Understand</a:t>
            </a:r>
          </a:p>
        </p:txBody>
      </p:sp>
      <p:sp>
        <p:nvSpPr>
          <p:cNvPr id="13" name="Rounded Rectangle 12"/>
          <p:cNvSpPr/>
          <p:nvPr/>
        </p:nvSpPr>
        <p:spPr>
          <a:xfrm>
            <a:off x="7589520" y="2807208"/>
            <a:ext cx="4023360" cy="56692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2852928"/>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3. Clarify</a:t>
            </a:r>
          </a:p>
        </p:txBody>
      </p:sp>
      <p:sp>
        <p:nvSpPr>
          <p:cNvPr id="15" name="Rounded Rectangle 14"/>
          <p:cNvSpPr/>
          <p:nvPr/>
        </p:nvSpPr>
        <p:spPr>
          <a:xfrm>
            <a:off x="7589520" y="3502152"/>
            <a:ext cx="4023360" cy="566928"/>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3547872"/>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4. Set boundaries</a:t>
            </a:r>
          </a:p>
        </p:txBody>
      </p:sp>
      <p:sp>
        <p:nvSpPr>
          <p:cNvPr id="17" name="Rounded Rectangle 16"/>
          <p:cNvSpPr/>
          <p:nvPr/>
        </p:nvSpPr>
        <p:spPr>
          <a:xfrm>
            <a:off x="7589520" y="4197096"/>
            <a:ext cx="4023360" cy="56692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4242816"/>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5. Solve</a:t>
            </a:r>
          </a:p>
        </p:txBody>
      </p:sp>
      <p:sp>
        <p:nvSpPr>
          <p:cNvPr id="19" name="Rounded Rectangle 18"/>
          <p:cNvSpPr/>
          <p:nvPr/>
        </p:nvSpPr>
        <p:spPr>
          <a:xfrm>
            <a:off x="7589520" y="4892040"/>
            <a:ext cx="4023360" cy="566928"/>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4937759"/>
            <a:ext cx="4023360" cy="475488"/>
          </a:xfrm>
          <a:prstGeom prst="rect">
            <a:avLst/>
          </a:prstGeom>
          <a:noFill/>
        </p:spPr>
        <p:txBody>
          <a:bodyPr wrap="square" lIns="274320"/>
          <a:lstStyle/>
          <a:p>
            <a:pPr algn="l">
              <a:lnSpc>
                <a:spcPct val="100000"/>
              </a:lnSpc>
              <a:spcBef>
                <a:spcPts val="0"/>
              </a:spcBef>
              <a:spcAft>
                <a:spcPts val="200"/>
              </a:spcAft>
              <a:defRPr sz="1200" b="1" i="0">
                <a:solidFill>
                  <a:srgbClr val="FFFFFF"/>
                </a:solidFill>
                <a:latin typeface="Calibri"/>
              </a:defRPr>
            </a:pPr>
            <a:r>
              <a:t>6. Follow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Types of Difficult Clients' Behaviors</dc:title>
  <dc:subject>A Practical Guide for Freelancers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